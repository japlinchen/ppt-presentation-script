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56" r:id="rId5"/>
    <p:sldId id="267" r:id="rId6"/>
    <p:sldId id="304" r:id="rId7"/>
    <p:sldId id="303" r:id="rId8"/>
    <p:sldId id="297" r:id="rId9"/>
    <p:sldId id="294" r:id="rId10"/>
    <p:sldId id="296" r:id="rId11"/>
    <p:sldId id="300" r:id="rId12"/>
    <p:sldId id="299" r:id="rId13"/>
    <p:sldId id="301" r:id="rId14"/>
    <p:sldId id="305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 Vinh Hanh" initials="SVH" lastIdx="2" clrIdx="0">
    <p:extLst>
      <p:ext uri="{19B8F6BF-5375-455C-9EA6-DF929625EA0E}">
        <p15:presenceInfo xmlns:p15="http://schemas.microsoft.com/office/powerpoint/2012/main" userId="Sai Vinh H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050"/>
    <a:srgbClr val="0000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36444-30A7-4110-926D-08967F02C897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CC6A3-818F-4D8A-87FA-578D4530E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6711B-C436-4098-842A-41113CB6CF8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679F23-1A34-4310-B041-0E4593B73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 descr="Tuyển Dụng VPIC1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28" name="Picture 4" descr="Vector Logo] VPIC1 - Công Ty Cổ Phần Công Nghiệp Chính Xác Việt Nam Số 1 -  Download Định Dạng EPS, SVG Cho AI, Corel » Hải Triều"/>
          <p:cNvPicPr>
            <a:picLocks noChangeAspect="1" noChangeArrowheads="1"/>
          </p:cNvPicPr>
          <p:nvPr userDrawn="1"/>
        </p:nvPicPr>
        <p:blipFill>
          <a:blip r:embed="rId13" cstate="email"/>
          <a:srcRect/>
          <a:stretch>
            <a:fillRect/>
          </a:stretch>
        </p:blipFill>
        <p:spPr bwMode="auto">
          <a:xfrm>
            <a:off x="155575" y="160338"/>
            <a:ext cx="1463542" cy="58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01009"/>
            <a:ext cx="12192000" cy="130261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BÁO CÁO ĐỀ XUẤT MẠNG MÁY TÍNH HIỆN TR</a:t>
            </a:r>
            <a:r>
              <a:rPr lang="vi-V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ỜNG</a:t>
            </a:r>
            <a:endParaRPr lang="zh-CN" altLang="en-US" sz="4400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charset="-12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063472" y="3994908"/>
            <a:ext cx="414669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vi-VN" altLang="zh-TW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MIS, </a:t>
            </a:r>
            <a:r>
              <a:rPr lang="en-US" altLang="zh-TW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12/2025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 txBox="1"/>
          <p:nvPr/>
        </p:nvSpPr>
        <p:spPr>
          <a:xfrm>
            <a:off x="1638796" y="152400"/>
            <a:ext cx="10517579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NỘI DUNG 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內容</a:t>
            </a:r>
            <a:endParaRPr lang="en-US" sz="2700" b="1" dirty="0">
              <a:solidFill>
                <a:srgbClr val="FF0000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F1177B-27C4-423B-9AC0-4CB52F6099E1}"/>
              </a:ext>
            </a:extLst>
          </p:cNvPr>
          <p:cNvSpPr/>
          <p:nvPr/>
        </p:nvSpPr>
        <p:spPr>
          <a:xfrm>
            <a:off x="1768763" y="1349083"/>
            <a:ext cx="8654474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1. ĐỀ XUẤT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MÁY TÍNH HIỆN TR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ỜNG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C3C1A1-BA99-442D-89B3-A2511B799F4B}"/>
              </a:ext>
            </a:extLst>
          </p:cNvPr>
          <p:cNvSpPr/>
          <p:nvPr/>
        </p:nvSpPr>
        <p:spPr>
          <a:xfrm>
            <a:off x="1768763" y="2511718"/>
            <a:ext cx="8654474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2. CHI PHÍ VÀ THỜI GIAN TRIỂN KHAI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F4745A-A408-4897-BA67-31BAF27171D0}"/>
              </a:ext>
            </a:extLst>
          </p:cNvPr>
          <p:cNvSpPr/>
          <p:nvPr/>
        </p:nvSpPr>
        <p:spPr>
          <a:xfrm>
            <a:off x="1768763" y="3674353"/>
            <a:ext cx="8654474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3. Đ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ỜNG TRUYỀN MẠNG ISP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AC25DC-EA93-40EA-98E8-D63D3F57366F}"/>
              </a:ext>
            </a:extLst>
          </p:cNvPr>
          <p:cNvSpPr/>
          <p:nvPr/>
        </p:nvSpPr>
        <p:spPr>
          <a:xfrm>
            <a:off x="1768763" y="4836988"/>
            <a:ext cx="8654474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4. LAYOUT MẠNG CÁC X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ỞNG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 txBox="1"/>
          <p:nvPr/>
        </p:nvSpPr>
        <p:spPr>
          <a:xfrm>
            <a:off x="1636850" y="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1. ĐỀ XUẤT MẠNH KHÁCH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9E8BC0-651C-41C9-AF70-6D85EAD5D0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9" r="9740" b="8147"/>
          <a:stretch/>
        </p:blipFill>
        <p:spPr>
          <a:xfrm>
            <a:off x="584200" y="944563"/>
            <a:ext cx="5245100" cy="5819236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31A6158-EBAA-4994-900E-0D36C408FC4D}"/>
              </a:ext>
            </a:extLst>
          </p:cNvPr>
          <p:cNvSpPr/>
          <p:nvPr/>
        </p:nvSpPr>
        <p:spPr>
          <a:xfrm>
            <a:off x="4861560" y="2131060"/>
            <a:ext cx="1130300" cy="571500"/>
          </a:xfrm>
          <a:prstGeom prst="wedgeRectCallout">
            <a:avLst>
              <a:gd name="adj1" fmla="val 9473"/>
              <a:gd name="adj2" fmla="val 15830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 err="1">
                <a:solidFill>
                  <a:schemeClr val="tx1"/>
                </a:solidFill>
              </a:rPr>
              <a:t>ởng</a:t>
            </a:r>
            <a:r>
              <a:rPr lang="en-US" dirty="0">
                <a:solidFill>
                  <a:schemeClr val="tx1"/>
                </a:solidFill>
              </a:rPr>
              <a:t> 3: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10 PC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24A2BF0-9C83-424E-9C6B-749481D882EF}"/>
              </a:ext>
            </a:extLst>
          </p:cNvPr>
          <p:cNvSpPr/>
          <p:nvPr/>
        </p:nvSpPr>
        <p:spPr>
          <a:xfrm>
            <a:off x="177800" y="4368801"/>
            <a:ext cx="1130300" cy="571500"/>
          </a:xfrm>
          <a:prstGeom prst="wedgeRectCallout">
            <a:avLst>
              <a:gd name="adj1" fmla="val 81383"/>
              <a:gd name="adj2" fmla="val 138305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 err="1">
                <a:solidFill>
                  <a:schemeClr val="tx1"/>
                </a:solidFill>
              </a:rPr>
              <a:t>ởng</a:t>
            </a:r>
            <a:r>
              <a:rPr lang="en-US" dirty="0">
                <a:solidFill>
                  <a:schemeClr val="tx1"/>
                </a:solidFill>
              </a:rPr>
              <a:t> 2: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10 PC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234C6398-D3D8-48EB-9717-7DDDCF219004}"/>
              </a:ext>
            </a:extLst>
          </p:cNvPr>
          <p:cNvSpPr/>
          <p:nvPr/>
        </p:nvSpPr>
        <p:spPr>
          <a:xfrm>
            <a:off x="1943100" y="6192299"/>
            <a:ext cx="1130300" cy="571500"/>
          </a:xfrm>
          <a:prstGeom prst="wedgeRectCallout">
            <a:avLst>
              <a:gd name="adj1" fmla="val 100484"/>
              <a:gd name="adj2" fmla="val -1502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 err="1">
                <a:solidFill>
                  <a:schemeClr val="tx1"/>
                </a:solidFill>
              </a:rPr>
              <a:t>ởng</a:t>
            </a:r>
            <a:r>
              <a:rPr lang="en-US" dirty="0">
                <a:solidFill>
                  <a:schemeClr val="tx1"/>
                </a:solidFill>
              </a:rPr>
              <a:t> 4: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21 PC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7486CA6A-CE7A-401A-B594-8C185E6D999D}"/>
              </a:ext>
            </a:extLst>
          </p:cNvPr>
          <p:cNvSpPr/>
          <p:nvPr/>
        </p:nvSpPr>
        <p:spPr>
          <a:xfrm>
            <a:off x="4965700" y="4155441"/>
            <a:ext cx="1130300" cy="571500"/>
          </a:xfrm>
          <a:prstGeom prst="wedgeRectCallout">
            <a:avLst>
              <a:gd name="adj1" fmla="val -52550"/>
              <a:gd name="adj2" fmla="val 9563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 err="1">
                <a:solidFill>
                  <a:schemeClr val="tx1"/>
                </a:solidFill>
              </a:rPr>
              <a:t>ởng</a:t>
            </a:r>
            <a:r>
              <a:rPr lang="en-US" dirty="0">
                <a:solidFill>
                  <a:schemeClr val="tx1"/>
                </a:solidFill>
              </a:rPr>
              <a:t> 1: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15 PC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14A23F4A-0145-4B09-8AB2-7692D5DD4EB5}"/>
              </a:ext>
            </a:extLst>
          </p:cNvPr>
          <p:cNvSpPr/>
          <p:nvPr/>
        </p:nvSpPr>
        <p:spPr>
          <a:xfrm>
            <a:off x="317500" y="2131060"/>
            <a:ext cx="1130300" cy="571500"/>
          </a:xfrm>
          <a:prstGeom prst="wedgeRectCallout">
            <a:avLst>
              <a:gd name="adj1" fmla="val 9472"/>
              <a:gd name="adj2" fmla="val 12763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 err="1">
                <a:solidFill>
                  <a:schemeClr val="tx1"/>
                </a:solidFill>
              </a:rPr>
              <a:t>ởng</a:t>
            </a:r>
            <a:r>
              <a:rPr lang="en-US" dirty="0">
                <a:solidFill>
                  <a:schemeClr val="tx1"/>
                </a:solidFill>
              </a:rPr>
              <a:t> 5: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11 PC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F0ED52-DA04-4815-A343-BD039768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80" y="1078943"/>
            <a:ext cx="4434840" cy="5684856"/>
          </a:xfrm>
          <a:prstGeom prst="rect">
            <a:avLst/>
          </a:prstGeom>
        </p:spPr>
      </p:pic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413F5B28-FE01-4F0C-8A0A-A648437936E8}"/>
              </a:ext>
            </a:extLst>
          </p:cNvPr>
          <p:cNvSpPr/>
          <p:nvPr/>
        </p:nvSpPr>
        <p:spPr>
          <a:xfrm>
            <a:off x="7340106" y="3967309"/>
            <a:ext cx="1649730" cy="802983"/>
          </a:xfrm>
          <a:prstGeom prst="wedgeRectCallout">
            <a:avLst>
              <a:gd name="adj1" fmla="val -6795"/>
              <a:gd name="adj2" fmla="val 14060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Nhà</a:t>
            </a:r>
            <a:r>
              <a:rPr lang="en-US" dirty="0">
                <a:solidFill>
                  <a:schemeClr val="tx1"/>
                </a:solidFill>
              </a:rPr>
              <a:t> A: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19 PC</a:t>
            </a: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28975336-7842-4213-993F-4DEDBD631570}"/>
              </a:ext>
            </a:extLst>
          </p:cNvPr>
          <p:cNvSpPr/>
          <p:nvPr/>
        </p:nvSpPr>
        <p:spPr>
          <a:xfrm>
            <a:off x="10542270" y="3921371"/>
            <a:ext cx="1649730" cy="802983"/>
          </a:xfrm>
          <a:prstGeom prst="wedgeRectCallout">
            <a:avLst>
              <a:gd name="adj1" fmla="val -6025"/>
              <a:gd name="adj2" fmla="val 202289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Nhà</a:t>
            </a:r>
            <a:r>
              <a:rPr lang="en-US" dirty="0">
                <a:solidFill>
                  <a:schemeClr val="tx1"/>
                </a:solidFill>
              </a:rPr>
              <a:t> B: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 PC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F7CD2-D725-4934-A91D-77E758587591}"/>
              </a:ext>
            </a:extLst>
          </p:cNvPr>
          <p:cNvSpPr txBox="1"/>
          <p:nvPr/>
        </p:nvSpPr>
        <p:spPr>
          <a:xfrm>
            <a:off x="1489613" y="925378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 QUANG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8110D2-C22A-4515-92FD-885C5822CC6C}"/>
              </a:ext>
            </a:extLst>
          </p:cNvPr>
          <p:cNvCxnSpPr>
            <a:cxnSpLocks/>
          </p:cNvCxnSpPr>
          <p:nvPr/>
        </p:nvCxnSpPr>
        <p:spPr>
          <a:xfrm flipH="1">
            <a:off x="6725426" y="802983"/>
            <a:ext cx="1" cy="5960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6518AB-F13B-4DD6-AA58-6C44029D1DF9}"/>
              </a:ext>
            </a:extLst>
          </p:cNvPr>
          <p:cNvSpPr txBox="1"/>
          <p:nvPr/>
        </p:nvSpPr>
        <p:spPr>
          <a:xfrm>
            <a:off x="6921501" y="925378"/>
            <a:ext cx="130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 THIỆN</a:t>
            </a:r>
          </a:p>
        </p:txBody>
      </p:sp>
    </p:spTree>
    <p:extLst>
      <p:ext uri="{BB962C8B-B14F-4D97-AF65-F5344CB8AC3E}">
        <p14:creationId xmlns:p14="http://schemas.microsoft.com/office/powerpoint/2010/main" val="304839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 txBox="1"/>
          <p:nvPr/>
        </p:nvSpPr>
        <p:spPr>
          <a:xfrm>
            <a:off x="1636850" y="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2.1 CHI PHÍ VÀ THỜI GIAN TRIỂN KHAI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BEB7FF-39E7-43C4-9613-15DAD38BE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919008"/>
              </p:ext>
            </p:extLst>
          </p:nvPr>
        </p:nvGraphicFramePr>
        <p:xfrm>
          <a:off x="0" y="1127760"/>
          <a:ext cx="12192000" cy="48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646">
                  <a:extLst>
                    <a:ext uri="{9D8B030D-6E8A-4147-A177-3AD203B41FA5}">
                      <a16:colId xmlns:a16="http://schemas.microsoft.com/office/drawing/2014/main" val="625328000"/>
                    </a:ext>
                  </a:extLst>
                </a:gridCol>
                <a:gridCol w="2481754">
                  <a:extLst>
                    <a:ext uri="{9D8B030D-6E8A-4147-A177-3AD203B41FA5}">
                      <a16:colId xmlns:a16="http://schemas.microsoft.com/office/drawing/2014/main" val="50556548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2471974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90458214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1801275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838152715"/>
                    </a:ext>
                  </a:extLst>
                </a:gridCol>
                <a:gridCol w="1302684">
                  <a:extLst>
                    <a:ext uri="{9D8B030D-6E8A-4147-A177-3AD203B41FA5}">
                      <a16:colId xmlns:a16="http://schemas.microsoft.com/office/drawing/2014/main" val="1412787114"/>
                    </a:ext>
                  </a:extLst>
                </a:gridCol>
                <a:gridCol w="1257956">
                  <a:extLst>
                    <a:ext uri="{9D8B030D-6E8A-4147-A177-3AD203B41FA5}">
                      <a16:colId xmlns:a16="http://schemas.microsoft.com/office/drawing/2014/main" val="4166049405"/>
                    </a:ext>
                  </a:extLst>
                </a:gridCol>
                <a:gridCol w="842960">
                  <a:extLst>
                    <a:ext uri="{9D8B030D-6E8A-4147-A177-3AD203B41FA5}">
                      <a16:colId xmlns:a16="http://schemas.microsoft.com/office/drawing/2014/main" val="1023947187"/>
                    </a:ext>
                  </a:extLst>
                </a:gridCol>
              </a:tblGrid>
              <a:tr h="13461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vi-V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ởng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kiến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228265"/>
                  </a:ext>
                </a:extLst>
              </a:tr>
              <a:tr h="419958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Lắp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đ</a:t>
                      </a:r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ờng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cài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Firewall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49.860.000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32.800.000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31/12/2025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518721"/>
                  </a:ext>
                </a:extLst>
              </a:tr>
              <a:tr h="41995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dây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Firewall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xuống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ởng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43.139.000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03/01/2026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32052"/>
                  </a:ext>
                </a:extLst>
              </a:tr>
              <a:tr h="41995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dây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Firewall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xuống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ởng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X2, </a:t>
                      </a:r>
                    </a:p>
                    <a:p>
                      <a:pPr algn="l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17.365.000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05/01/2026</a:t>
                      </a: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17/01/2026</a:t>
                      </a: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28001"/>
                  </a:ext>
                </a:extLst>
              </a:tr>
              <a:tr h="41995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dây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Firewall ra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phòng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họp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</a:t>
                      </a:r>
                      <a:r>
                        <a:rPr lang="vi-V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ởng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25.386.000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19/01/2026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31/01/2026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55769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05CE394-DB74-4646-9BC9-32716206A49E}"/>
              </a:ext>
            </a:extLst>
          </p:cNvPr>
          <p:cNvSpPr txBox="1"/>
          <p:nvPr/>
        </p:nvSpPr>
        <p:spPr>
          <a:xfrm>
            <a:off x="1863897" y="633438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6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 txBox="1"/>
          <p:nvPr/>
        </p:nvSpPr>
        <p:spPr>
          <a:xfrm>
            <a:off x="1636850" y="0"/>
            <a:ext cx="9262753" cy="868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3. Đ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ỜNG TRUYỀN MẠNG CHO HỆ THỐNG WIFI KHÁCH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8F3F4FC-021A-4B7F-AE59-C017C92EEC44}"/>
              </a:ext>
            </a:extLst>
          </p:cNvPr>
          <p:cNvGraphicFramePr>
            <a:graphicFrameLocks noGrp="1"/>
          </p:cNvGraphicFramePr>
          <p:nvPr/>
        </p:nvGraphicFramePr>
        <p:xfrm>
          <a:off x="1473199" y="868478"/>
          <a:ext cx="9753600" cy="5277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403">
                  <a:extLst>
                    <a:ext uri="{9D8B030D-6E8A-4147-A177-3AD203B41FA5}">
                      <a16:colId xmlns:a16="http://schemas.microsoft.com/office/drawing/2014/main" val="978471661"/>
                    </a:ext>
                  </a:extLst>
                </a:gridCol>
                <a:gridCol w="2417037">
                  <a:extLst>
                    <a:ext uri="{9D8B030D-6E8A-4147-A177-3AD203B41FA5}">
                      <a16:colId xmlns:a16="http://schemas.microsoft.com/office/drawing/2014/main" val="3306842437"/>
                    </a:ext>
                  </a:extLst>
                </a:gridCol>
                <a:gridCol w="2232661">
                  <a:extLst>
                    <a:ext uri="{9D8B030D-6E8A-4147-A177-3AD203B41FA5}">
                      <a16:colId xmlns:a16="http://schemas.microsoft.com/office/drawing/2014/main" val="259816253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3003328695"/>
                    </a:ext>
                  </a:extLst>
                </a:gridCol>
                <a:gridCol w="1701799">
                  <a:extLst>
                    <a:ext uri="{9D8B030D-6E8A-4147-A177-3AD203B41FA5}">
                      <a16:colId xmlns:a16="http://schemas.microsoft.com/office/drawing/2014/main" val="411011703"/>
                    </a:ext>
                  </a:extLst>
                </a:gridCol>
              </a:tblGrid>
              <a:tr h="6301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IPS</a:t>
                      </a:r>
                      <a:endParaRPr lang="vi-VN" sz="14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Gói cước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Tốc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độ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Trong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nước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/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Quốc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tế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Loại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IP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1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tháng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023352"/>
                  </a:ext>
                </a:extLst>
              </a:tr>
              <a:tr h="395394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VNPT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FiberEco1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150Mb / 3Mb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động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7780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FiberEco2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250Mb/ 4Mb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động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418,000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4529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FiberEco3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300Mb/ 6Mb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858,000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740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FiberEco4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400Mb/ 7Mb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1,100,000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8124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Fiber4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400Mb/ 10Mb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2,200,000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6309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FiberEco5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500Mb/ 12Mb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3,520,000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266160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+mj-lt"/>
                        </a:rPr>
                        <a:t>VIETTEL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VIP200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200Mb / 5Mb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800.000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7378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F200PLUS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400Mb / 12Mb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4.400.000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8856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F200N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400Mb / 4Mb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1.100.000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4685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F300PLUS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500Mb / 30Mb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tĩnh + 1 block 4 IP 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9.900.000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4814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VIP500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500Mb / 10Mb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endParaRPr lang="en-US" sz="1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1.990.000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105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200" b="1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F300BASIC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500Mb / 22Mb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IP WAN tĩnh + 1 block 4 IP LAN</a:t>
                      </a:r>
                      <a:endParaRPr lang="sv-SE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7.700.000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2983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F2A51B-E619-4942-B777-C95EE38BF409}"/>
              </a:ext>
            </a:extLst>
          </p:cNvPr>
          <p:cNvSpPr txBox="1"/>
          <p:nvPr/>
        </p:nvSpPr>
        <p:spPr>
          <a:xfrm>
            <a:off x="787400" y="652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81B40-6CE7-45AA-B65A-ACE88C5FE2A1}"/>
              </a:ext>
            </a:extLst>
          </p:cNvPr>
          <p:cNvSpPr txBox="1"/>
          <p:nvPr/>
        </p:nvSpPr>
        <p:spPr>
          <a:xfrm>
            <a:off x="1400465" y="6343134"/>
            <a:ext cx="8722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VIP500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1,990,000 VND / 1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endParaRPr 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 txBox="1"/>
          <p:nvPr/>
        </p:nvSpPr>
        <p:spPr>
          <a:xfrm>
            <a:off x="1636850" y="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4.1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6B4B1E-8946-4BAC-A293-008C0814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555" y="1952625"/>
            <a:ext cx="9486900" cy="47148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FCAD82-F9C2-4F32-9E44-CD38F9C36A28}"/>
              </a:ext>
            </a:extLst>
          </p:cNvPr>
          <p:cNvSpPr txBox="1"/>
          <p:nvPr/>
        </p:nvSpPr>
        <p:spPr>
          <a:xfrm>
            <a:off x="1636850" y="952500"/>
            <a:ext cx="6692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1, QLSX, QC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B41225-C643-42FD-8563-F4BB58369F10}"/>
              </a:ext>
            </a:extLst>
          </p:cNvPr>
          <p:cNvSpPr txBox="1"/>
          <p:nvPr/>
        </p:nvSpPr>
        <p:spPr>
          <a:xfrm>
            <a:off x="5156127" y="1583293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1</a:t>
            </a:r>
          </a:p>
        </p:txBody>
      </p:sp>
      <p:pic>
        <p:nvPicPr>
          <p:cNvPr id="1026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504E2E4C-C21A-4847-9342-2DC8A9D4F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971079" y="2745264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CF381684-7C79-4888-86D2-16FD03571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10022816" y="3837990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526CD91A-AE63-4F3E-AF6E-912530889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10093378" y="4269556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904E6B49-382D-4A8B-8D89-96EE2C96D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957684" y="4335646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6F1ACB69-5207-446A-947C-C78658913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303508" y="4709126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EF5F9B2C-0A40-4604-AACD-A23B1C245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6438900" y="5170169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424E8273-02FA-4BB0-8E64-22EDDC84C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5411578" y="527470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2EBD6F84-DCB0-4FC4-9105-737143768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7865183" y="3429000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4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6F1ACB69-5207-446A-947C-C78658913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7379431" y="387488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52AE8959-98E5-4E9F-B90C-A0C88BB14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5772926" y="3689534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7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6AAA478F-B77E-4FD7-A269-B2BED0B5A1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4464361" y="2777863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E7818159-5B0D-469E-961A-4209D478F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446229" y="2773455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6AAA478F-B77E-4FD7-A269-B2BED0B5A1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332613" y="387488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784939D8-9298-4131-8620-0E937BE31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362613" y="480457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6040C0-408C-43A0-8FAC-798F173482F4}"/>
              </a:ext>
            </a:extLst>
          </p:cNvPr>
          <p:cNvCxnSpPr>
            <a:cxnSpLocks/>
          </p:cNvCxnSpPr>
          <p:nvPr/>
        </p:nvCxnSpPr>
        <p:spPr>
          <a:xfrm flipH="1">
            <a:off x="4456945" y="2745264"/>
            <a:ext cx="5245856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36319C-A320-4586-9C23-3EF9F529EEFF}"/>
              </a:ext>
            </a:extLst>
          </p:cNvPr>
          <p:cNvCxnSpPr>
            <a:cxnSpLocks/>
          </p:cNvCxnSpPr>
          <p:nvPr/>
        </p:nvCxnSpPr>
        <p:spPr>
          <a:xfrm flipH="1">
            <a:off x="5956010" y="3805037"/>
            <a:ext cx="2249941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BDD61BB-A4C7-4319-960C-FEBE35D63E9E}"/>
              </a:ext>
            </a:extLst>
          </p:cNvPr>
          <p:cNvCxnSpPr>
            <a:cxnSpLocks/>
          </p:cNvCxnSpPr>
          <p:nvPr/>
        </p:nvCxnSpPr>
        <p:spPr>
          <a:xfrm>
            <a:off x="8180551" y="2745264"/>
            <a:ext cx="32688" cy="1059773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3945D373-1FE1-4426-B8B6-6A5CAD9E5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5023843" y="2755552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1AC25A-D768-4DE3-8257-64CB829C70A8}"/>
              </a:ext>
            </a:extLst>
          </p:cNvPr>
          <p:cNvCxnSpPr>
            <a:cxnSpLocks/>
          </p:cNvCxnSpPr>
          <p:nvPr/>
        </p:nvCxnSpPr>
        <p:spPr>
          <a:xfrm>
            <a:off x="3673654" y="2888958"/>
            <a:ext cx="14712" cy="2109173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C78396-FEB1-4382-BA90-CDECDBBCD0B5}"/>
              </a:ext>
            </a:extLst>
          </p:cNvPr>
          <p:cNvCxnSpPr>
            <a:cxnSpLocks/>
          </p:cNvCxnSpPr>
          <p:nvPr/>
        </p:nvCxnSpPr>
        <p:spPr>
          <a:xfrm flipH="1">
            <a:off x="8448492" y="4367396"/>
            <a:ext cx="1736658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6814B28-46CC-4506-A911-120D5EB2F2B9}"/>
              </a:ext>
            </a:extLst>
          </p:cNvPr>
          <p:cNvCxnSpPr>
            <a:cxnSpLocks/>
          </p:cNvCxnSpPr>
          <p:nvPr/>
        </p:nvCxnSpPr>
        <p:spPr>
          <a:xfrm flipH="1" flipV="1">
            <a:off x="7079873" y="5401175"/>
            <a:ext cx="1108" cy="807721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172F860-E5C8-45EF-A2DC-C080BF37B4D3}"/>
              </a:ext>
            </a:extLst>
          </p:cNvPr>
          <p:cNvCxnSpPr>
            <a:cxnSpLocks/>
          </p:cNvCxnSpPr>
          <p:nvPr/>
        </p:nvCxnSpPr>
        <p:spPr>
          <a:xfrm flipH="1">
            <a:off x="5569263" y="5391413"/>
            <a:ext cx="151061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44DDECD-416E-4E23-8F69-5E2FF5435B6C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8461192" y="4361046"/>
            <a:ext cx="0" cy="34808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3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5F2AF3-5EB0-4208-AC53-FC43D90067B1}"/>
              </a:ext>
            </a:extLst>
          </p:cNvPr>
          <p:cNvSpPr txBox="1"/>
          <p:nvPr/>
        </p:nvSpPr>
        <p:spPr>
          <a:xfrm>
            <a:off x="5366912" y="747844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74BA0A1-1E17-438E-8DB3-434AAC0F6E88}"/>
              </a:ext>
            </a:extLst>
          </p:cNvPr>
          <p:cNvSpPr txBox="1"/>
          <p:nvPr/>
        </p:nvSpPr>
        <p:spPr>
          <a:xfrm>
            <a:off x="1789250" y="15240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4.2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3E6BAA-B842-4BF8-A45A-9D26DD80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24354" y="195108"/>
            <a:ext cx="5597217" cy="7331074"/>
          </a:xfrm>
          <a:prstGeom prst="rect">
            <a:avLst/>
          </a:prstGeom>
        </p:spPr>
      </p:pic>
      <p:pic>
        <p:nvPicPr>
          <p:cNvPr id="23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D8A147F1-F1CB-4440-8379-7D21F0110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4179678" y="481750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75F0EF92-48CF-4DA8-9386-667673DA7C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7024478" y="4829173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03737CFD-A092-46E1-A802-DF3EAB424F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7381588" y="4829173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4779BDE0-5622-4CE9-84A8-64C778CFD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342738" y="3514136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75F0EF92-48CF-4DA8-9386-667673DA7C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365598" y="3745142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2640E115-2D88-4E03-87FC-9B442803C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365598" y="459816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10CC8441-E0AE-4CAE-B516-73D0E9043B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469738" y="4061284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BCFA9DBE-5799-4949-9589-FD7AF8349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9178398" y="219786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4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5F2AF3-5EB0-4208-AC53-FC43D90067B1}"/>
              </a:ext>
            </a:extLst>
          </p:cNvPr>
          <p:cNvSpPr txBox="1"/>
          <p:nvPr/>
        </p:nvSpPr>
        <p:spPr>
          <a:xfrm>
            <a:off x="5346273" y="1011280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3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5698E0B-4F2F-4474-9FDA-195B7CC187C0}"/>
              </a:ext>
            </a:extLst>
          </p:cNvPr>
          <p:cNvSpPr txBox="1"/>
          <p:nvPr/>
        </p:nvSpPr>
        <p:spPr>
          <a:xfrm>
            <a:off x="1789250" y="15240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4.3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3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9A7B857-69E9-4442-80BC-6C97FBF3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64" y="1698760"/>
            <a:ext cx="7400272" cy="4895723"/>
          </a:xfrm>
          <a:prstGeom prst="rect">
            <a:avLst/>
          </a:prstGeom>
        </p:spPr>
      </p:pic>
      <p:pic>
        <p:nvPicPr>
          <p:cNvPr id="70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A7601CC5-8AE8-494B-AD38-9981D68C9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238402" y="1647960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3500A5D2-EBE1-4D1E-90DA-D4444C047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695701" y="158325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A7601CC5-8AE8-494B-AD38-9981D68C9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538017" y="578999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264957A4-D882-4BDE-8881-80A5DCF1C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4049169" y="158325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0855788A-AE8D-4EE1-BF44-B02B35D9B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3222649" y="5778500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7CD49992-42DD-4282-8093-88706E9DC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7086860" y="2436628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C0237CE4-2F90-4162-A75F-63C9AEE93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540108" y="5344849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FD8306A6-278D-48BF-A2E4-F77A37FC9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8553770" y="5662997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F1ED0D04-BACB-4802-B3DD-1EEFB0F80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9111766" y="4640789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Bộ máy tính để bàn văn phòng - PC Office TTC001 - Máy tính Tiến Tân">
            <a:extLst>
              <a:ext uri="{FF2B5EF4-FFF2-40B4-BE49-F238E27FC236}">
                <a16:creationId xmlns:a16="http://schemas.microsoft.com/office/drawing/2014/main" id="{F61B5E03-68BA-41AD-9A34-5D78F9B0C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1" t="21454" r="8508" b="15741"/>
          <a:stretch/>
        </p:blipFill>
        <p:spPr bwMode="auto">
          <a:xfrm>
            <a:off x="9275003" y="5687194"/>
            <a:ext cx="315368" cy="23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74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5F2AF3-5EB0-4208-AC53-FC43D90067B1}"/>
              </a:ext>
            </a:extLst>
          </p:cNvPr>
          <p:cNvSpPr txBox="1"/>
          <p:nvPr/>
        </p:nvSpPr>
        <p:spPr>
          <a:xfrm>
            <a:off x="5539950" y="770717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8B74D-24DF-4D4D-978B-1B1956C3B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1117176"/>
            <a:ext cx="8486603" cy="5157153"/>
          </a:xfrm>
          <a:prstGeom prst="rect">
            <a:avLst/>
          </a:prstGeom>
        </p:spPr>
      </p:pic>
      <p:pic>
        <p:nvPicPr>
          <p:cNvPr id="17" name="Picture 2" descr="What is WiFi? | Bobology.com">
            <a:extLst>
              <a:ext uri="{FF2B5EF4-FFF2-40B4-BE49-F238E27FC236}">
                <a16:creationId xmlns:a16="http://schemas.microsoft.com/office/drawing/2014/main" id="{AB9EFAFC-1728-4819-BC32-4EE8CEDF1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254" y="4334545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F7E5D6E-843A-404C-9D83-594F28B5222D}"/>
              </a:ext>
            </a:extLst>
          </p:cNvPr>
          <p:cNvSpPr txBox="1"/>
          <p:nvPr/>
        </p:nvSpPr>
        <p:spPr>
          <a:xfrm>
            <a:off x="1794297" y="4334545"/>
            <a:ext cx="61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Dập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C2E606-568C-4C4E-ADA1-9C3244CC7D9B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 flipV="1">
            <a:off x="2413000" y="4463397"/>
            <a:ext cx="627254" cy="2503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What is WiFi? | Bobology.com">
            <a:extLst>
              <a:ext uri="{FF2B5EF4-FFF2-40B4-BE49-F238E27FC236}">
                <a16:creationId xmlns:a16="http://schemas.microsoft.com/office/drawing/2014/main" id="{D88D6A3F-D373-4A7C-9741-66210A6B7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262" y="3322831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C257C3-3300-4CEC-AB46-CD9830FBD75D}"/>
              </a:ext>
            </a:extLst>
          </p:cNvPr>
          <p:cNvSpPr txBox="1"/>
          <p:nvPr/>
        </p:nvSpPr>
        <p:spPr>
          <a:xfrm>
            <a:off x="1794296" y="3321300"/>
            <a:ext cx="61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Kaifa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E96827-1CF8-4F2C-BB4F-F713A94F56CF}"/>
              </a:ext>
            </a:extLst>
          </p:cNvPr>
          <p:cNvCxnSpPr>
            <a:cxnSpLocks/>
            <a:stCxn id="26" idx="3"/>
            <a:endCxn id="24" idx="1"/>
          </p:cNvCxnSpPr>
          <p:nvPr/>
        </p:nvCxnSpPr>
        <p:spPr>
          <a:xfrm flipV="1">
            <a:off x="2412999" y="3451683"/>
            <a:ext cx="918263" cy="235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What is WiFi? | Bobology.com">
            <a:extLst>
              <a:ext uri="{FF2B5EF4-FFF2-40B4-BE49-F238E27FC236}">
                <a16:creationId xmlns:a16="http://schemas.microsoft.com/office/drawing/2014/main" id="{2A7913E4-B2B5-4FDA-9505-B401FDAA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370" y="2757001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563F288-4E81-493C-AC69-10FBA48B8E25}"/>
              </a:ext>
            </a:extLst>
          </p:cNvPr>
          <p:cNvSpPr txBox="1"/>
          <p:nvPr/>
        </p:nvSpPr>
        <p:spPr>
          <a:xfrm>
            <a:off x="1843646" y="2788446"/>
            <a:ext cx="61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F003915-2D91-4AD2-9A9E-169475D72F88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 flipV="1">
            <a:off x="2462349" y="2885853"/>
            <a:ext cx="568021" cy="564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39DB9935-52BE-4D4D-AC24-784E533C9303}"/>
              </a:ext>
            </a:extLst>
          </p:cNvPr>
          <p:cNvSpPr txBox="1"/>
          <p:nvPr/>
        </p:nvSpPr>
        <p:spPr>
          <a:xfrm>
            <a:off x="1789250" y="15240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4.4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BD3F8D5-BE29-454D-9D6B-B230305E310E}"/>
              </a:ext>
            </a:extLst>
          </p:cNvPr>
          <p:cNvCxnSpPr>
            <a:cxnSpLocks/>
          </p:cNvCxnSpPr>
          <p:nvPr/>
        </p:nvCxnSpPr>
        <p:spPr>
          <a:xfrm>
            <a:off x="2896805" y="2942334"/>
            <a:ext cx="0" cy="2671066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F88400-0B3B-42AE-A5EA-7987C859F1C3}"/>
              </a:ext>
            </a:extLst>
          </p:cNvPr>
          <p:cNvCxnSpPr>
            <a:cxnSpLocks/>
          </p:cNvCxnSpPr>
          <p:nvPr/>
        </p:nvCxnSpPr>
        <p:spPr>
          <a:xfrm>
            <a:off x="11662093" y="7780497"/>
            <a:ext cx="0" cy="1070677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0E8517-B7DB-4424-85D2-E09DA78873C8}"/>
              </a:ext>
            </a:extLst>
          </p:cNvPr>
          <p:cNvCxnSpPr>
            <a:cxnSpLocks/>
          </p:cNvCxnSpPr>
          <p:nvPr/>
        </p:nvCxnSpPr>
        <p:spPr>
          <a:xfrm>
            <a:off x="914400" y="5613400"/>
            <a:ext cx="1993900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88914F-0464-4B8A-91F2-7185EE1D5DF1}"/>
              </a:ext>
            </a:extLst>
          </p:cNvPr>
          <p:cNvCxnSpPr>
            <a:cxnSpLocks/>
          </p:cNvCxnSpPr>
          <p:nvPr/>
        </p:nvCxnSpPr>
        <p:spPr>
          <a:xfrm>
            <a:off x="2908300" y="4354555"/>
            <a:ext cx="190499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14C8F1-9122-4279-9BF2-F9AADCD68FAD}"/>
              </a:ext>
            </a:extLst>
          </p:cNvPr>
          <p:cNvCxnSpPr>
            <a:cxnSpLocks/>
          </p:cNvCxnSpPr>
          <p:nvPr/>
        </p:nvCxnSpPr>
        <p:spPr>
          <a:xfrm>
            <a:off x="2896805" y="2945844"/>
            <a:ext cx="190499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C8C45-9B11-428E-8607-03E228FFEBD8}"/>
              </a:ext>
            </a:extLst>
          </p:cNvPr>
          <p:cNvCxnSpPr>
            <a:cxnSpLocks/>
          </p:cNvCxnSpPr>
          <p:nvPr/>
        </p:nvCxnSpPr>
        <p:spPr>
          <a:xfrm>
            <a:off x="2896804" y="3351052"/>
            <a:ext cx="483807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peech Bubble: Rectangle 49">
            <a:extLst>
              <a:ext uri="{FF2B5EF4-FFF2-40B4-BE49-F238E27FC236}">
                <a16:creationId xmlns:a16="http://schemas.microsoft.com/office/drawing/2014/main" id="{66B89F40-8BEE-4AD1-A04E-761F16A52C12}"/>
              </a:ext>
            </a:extLst>
          </p:cNvPr>
          <p:cNvSpPr/>
          <p:nvPr/>
        </p:nvSpPr>
        <p:spPr>
          <a:xfrm>
            <a:off x="95551" y="3774323"/>
            <a:ext cx="1497150" cy="902359"/>
          </a:xfrm>
          <a:prstGeom prst="wedgeRectCallout">
            <a:avLst>
              <a:gd name="adj1" fmla="val 53754"/>
              <a:gd name="adj2" fmla="val 15182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máy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chủ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353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FD09D-CC45-406D-9331-EC7CC81B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81124"/>
            <a:ext cx="9601200" cy="47290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5F2AF3-5EB0-4208-AC53-FC43D90067B1}"/>
              </a:ext>
            </a:extLst>
          </p:cNvPr>
          <p:cNvSpPr txBox="1"/>
          <p:nvPr/>
        </p:nvSpPr>
        <p:spPr>
          <a:xfrm>
            <a:off x="5112912" y="1381124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5</a:t>
            </a:r>
          </a:p>
        </p:txBody>
      </p:sp>
      <p:pic>
        <p:nvPicPr>
          <p:cNvPr id="24" name="Picture 2" descr="What is WiFi? | Bobology.com">
            <a:extLst>
              <a:ext uri="{FF2B5EF4-FFF2-40B4-BE49-F238E27FC236}">
                <a16:creationId xmlns:a16="http://schemas.microsoft.com/office/drawing/2014/main" id="{D88D6A3F-D373-4A7C-9741-66210A6B7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511" y="3010219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C257C3-3300-4CEC-AB46-CD9830FBD75D}"/>
              </a:ext>
            </a:extLst>
          </p:cNvPr>
          <p:cNvSpPr txBox="1"/>
          <p:nvPr/>
        </p:nvSpPr>
        <p:spPr>
          <a:xfrm>
            <a:off x="10804477" y="2960146"/>
            <a:ext cx="61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E96827-1CF8-4F2C-BB4F-F713A94F56CF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flipH="1">
            <a:off x="10164406" y="3114035"/>
            <a:ext cx="640071" cy="25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What is WiFi? | Bobology.com">
            <a:extLst>
              <a:ext uri="{FF2B5EF4-FFF2-40B4-BE49-F238E27FC236}">
                <a16:creationId xmlns:a16="http://schemas.microsoft.com/office/drawing/2014/main" id="{91E28522-1A59-420D-8758-C529FC3F8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634" y="4909718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8146DA-1905-457C-AD58-0BB362FFFD48}"/>
              </a:ext>
            </a:extLst>
          </p:cNvPr>
          <p:cNvSpPr txBox="1"/>
          <p:nvPr/>
        </p:nvSpPr>
        <p:spPr>
          <a:xfrm>
            <a:off x="10804476" y="4859645"/>
            <a:ext cx="618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Dập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FA7C4A-958F-425F-B192-21B147D8E1C5}"/>
              </a:ext>
            </a:extLst>
          </p:cNvPr>
          <p:cNvCxnSpPr>
            <a:cxnSpLocks/>
            <a:stCxn id="25" idx="1"/>
            <a:endCxn id="21" idx="3"/>
          </p:cNvCxnSpPr>
          <p:nvPr/>
        </p:nvCxnSpPr>
        <p:spPr>
          <a:xfrm flipH="1">
            <a:off x="10256529" y="5013534"/>
            <a:ext cx="547947" cy="25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22B394A8-F74A-4332-8354-0D50304018D8}"/>
              </a:ext>
            </a:extLst>
          </p:cNvPr>
          <p:cNvSpPr txBox="1"/>
          <p:nvPr/>
        </p:nvSpPr>
        <p:spPr>
          <a:xfrm>
            <a:off x="1789250" y="15240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4.5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5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6FCA4CD-918A-4EA4-A3EA-E08DD9851964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524000" y="2081172"/>
            <a:ext cx="8364634" cy="2957398"/>
          </a:xfrm>
          <a:prstGeom prst="bentConnector3">
            <a:avLst>
              <a:gd name="adj1" fmla="val 93879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4694EB-3933-44AF-A7C6-F617526DE50C}"/>
              </a:ext>
            </a:extLst>
          </p:cNvPr>
          <p:cNvCxnSpPr>
            <a:cxnSpLocks/>
          </p:cNvCxnSpPr>
          <p:nvPr/>
        </p:nvCxnSpPr>
        <p:spPr>
          <a:xfrm>
            <a:off x="9359900" y="3114035"/>
            <a:ext cx="436611" cy="0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9735E7-952B-464B-BA28-F4D261457C10}"/>
              </a:ext>
            </a:extLst>
          </p:cNvPr>
          <p:cNvCxnSpPr>
            <a:cxnSpLocks/>
          </p:cNvCxnSpPr>
          <p:nvPr/>
        </p:nvCxnSpPr>
        <p:spPr>
          <a:xfrm>
            <a:off x="1524000" y="1055007"/>
            <a:ext cx="0" cy="1026165"/>
          </a:xfrm>
          <a:prstGeom prst="line">
            <a:avLst/>
          </a:prstGeom>
          <a:ln w="190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peech Bubble: Rectangle 40">
            <a:extLst>
              <a:ext uri="{FF2B5EF4-FFF2-40B4-BE49-F238E27FC236}">
                <a16:creationId xmlns:a16="http://schemas.microsoft.com/office/drawing/2014/main" id="{F5A8A3C4-876A-43E8-9239-1150B9D71B4D}"/>
              </a:ext>
            </a:extLst>
          </p:cNvPr>
          <p:cNvSpPr/>
          <p:nvPr/>
        </p:nvSpPr>
        <p:spPr>
          <a:xfrm>
            <a:off x="20245" y="3429000"/>
            <a:ext cx="1497150" cy="902359"/>
          </a:xfrm>
          <a:prstGeom prst="wedgeRectCallout">
            <a:avLst>
              <a:gd name="adj1" fmla="val 89381"/>
              <a:gd name="adj2" fmla="val -19862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Cáp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máy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chủ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80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23CD3-D9BB-43C9-BC59-85E39AAED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577" y="1305665"/>
            <a:ext cx="6534150" cy="5552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5F2AF3-5EB0-4208-AC53-FC43D90067B1}"/>
              </a:ext>
            </a:extLst>
          </p:cNvPr>
          <p:cNvSpPr txBox="1"/>
          <p:nvPr/>
        </p:nvSpPr>
        <p:spPr>
          <a:xfrm>
            <a:off x="5086951" y="941326"/>
            <a:ext cx="111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XƯỞNG 6</a:t>
            </a:r>
          </a:p>
        </p:txBody>
      </p:sp>
      <p:pic>
        <p:nvPicPr>
          <p:cNvPr id="24" name="Picture 2" descr="What is WiFi? | Bobology.com">
            <a:extLst>
              <a:ext uri="{FF2B5EF4-FFF2-40B4-BE49-F238E27FC236}">
                <a16:creationId xmlns:a16="http://schemas.microsoft.com/office/drawing/2014/main" id="{D88D6A3F-D373-4A7C-9741-66210A6B7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861" y="1712386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C257C3-3300-4CEC-AB46-CD9830FBD75D}"/>
              </a:ext>
            </a:extLst>
          </p:cNvPr>
          <p:cNvSpPr txBox="1"/>
          <p:nvPr/>
        </p:nvSpPr>
        <p:spPr>
          <a:xfrm>
            <a:off x="9560446" y="1558497"/>
            <a:ext cx="842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X6-M1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E96827-1CF8-4F2C-BB4F-F713A94F56CF}"/>
              </a:ext>
            </a:extLst>
          </p:cNvPr>
          <p:cNvCxnSpPr>
            <a:cxnSpLocks/>
          </p:cNvCxnSpPr>
          <p:nvPr/>
        </p:nvCxnSpPr>
        <p:spPr>
          <a:xfrm flipH="1">
            <a:off x="7575909" y="1769007"/>
            <a:ext cx="1937841" cy="722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What is WiFi? | Bobology.com">
            <a:extLst>
              <a:ext uri="{FF2B5EF4-FFF2-40B4-BE49-F238E27FC236}">
                <a16:creationId xmlns:a16="http://schemas.microsoft.com/office/drawing/2014/main" id="{91E28522-1A59-420D-8758-C529FC3F8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860" y="6101085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8146DA-1905-457C-AD58-0BB362FFFD48}"/>
              </a:ext>
            </a:extLst>
          </p:cNvPr>
          <p:cNvSpPr txBox="1"/>
          <p:nvPr/>
        </p:nvSpPr>
        <p:spPr>
          <a:xfrm>
            <a:off x="9513750" y="5964604"/>
            <a:ext cx="842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X6-M2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FA7C4A-958F-425F-B192-21B147D8E1C5}"/>
              </a:ext>
            </a:extLst>
          </p:cNvPr>
          <p:cNvCxnSpPr>
            <a:cxnSpLocks/>
            <a:stCxn id="25" idx="1"/>
            <a:endCxn id="21" idx="3"/>
          </p:cNvCxnSpPr>
          <p:nvPr/>
        </p:nvCxnSpPr>
        <p:spPr>
          <a:xfrm flipH="1">
            <a:off x="7587755" y="6118493"/>
            <a:ext cx="1925995" cy="111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22B394A8-F74A-4332-8354-0D50304018D8}"/>
              </a:ext>
            </a:extLst>
          </p:cNvPr>
          <p:cNvSpPr txBox="1"/>
          <p:nvPr/>
        </p:nvSpPr>
        <p:spPr>
          <a:xfrm>
            <a:off x="1789250" y="152400"/>
            <a:ext cx="9262753" cy="802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4.6 S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Ơ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 ĐỒ LẮP ĐẶT WIFI KHÁCH X</a:t>
            </a:r>
            <a:r>
              <a:rPr lang="vi-V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</a:rPr>
              <a:t>ỞNG 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D28AC-51AB-4027-A79A-7B0E55686B75}"/>
              </a:ext>
            </a:extLst>
          </p:cNvPr>
          <p:cNvSpPr txBox="1"/>
          <p:nvPr/>
        </p:nvSpPr>
        <p:spPr>
          <a:xfrm>
            <a:off x="4244647" y="5093640"/>
            <a:ext cx="842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X6-M2</a:t>
            </a:r>
          </a:p>
        </p:txBody>
      </p:sp>
      <p:pic>
        <p:nvPicPr>
          <p:cNvPr id="23" name="Picture 2" descr="What is WiFi? | Bobology.com">
            <a:extLst>
              <a:ext uri="{FF2B5EF4-FFF2-40B4-BE49-F238E27FC236}">
                <a16:creationId xmlns:a16="http://schemas.microsoft.com/office/drawing/2014/main" id="{86CE260D-5269-40D3-AD7D-F6666BCDE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230" y="6045363"/>
            <a:ext cx="367895" cy="2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14730C-66F1-40CB-83CE-923CE3554060}"/>
              </a:ext>
            </a:extLst>
          </p:cNvPr>
          <p:cNvCxnSpPr>
            <a:cxnSpLocks/>
            <a:stCxn id="22" idx="2"/>
            <a:endCxn id="23" idx="1"/>
          </p:cNvCxnSpPr>
          <p:nvPr/>
        </p:nvCxnSpPr>
        <p:spPr>
          <a:xfrm>
            <a:off x="4665799" y="5401417"/>
            <a:ext cx="514431" cy="7727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3F4E8F-F282-4DBB-B083-68851BD94787}"/>
              </a:ext>
            </a:extLst>
          </p:cNvPr>
          <p:cNvCxnSpPr>
            <a:cxnSpLocks/>
          </p:cNvCxnSpPr>
          <p:nvPr/>
        </p:nvCxnSpPr>
        <p:spPr>
          <a:xfrm>
            <a:off x="7037250" y="1841238"/>
            <a:ext cx="0" cy="544563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F87012-0B22-451A-85AC-F0391AD55B00}"/>
              </a:ext>
            </a:extLst>
          </p:cNvPr>
          <p:cNvCxnSpPr>
            <a:cxnSpLocks/>
          </p:cNvCxnSpPr>
          <p:nvPr/>
        </p:nvCxnSpPr>
        <p:spPr>
          <a:xfrm>
            <a:off x="6851830" y="2385801"/>
            <a:ext cx="0" cy="3937159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400BF3-6D01-49FD-87B3-66046C87F202}"/>
              </a:ext>
            </a:extLst>
          </p:cNvPr>
          <p:cNvCxnSpPr>
            <a:cxnSpLocks/>
          </p:cNvCxnSpPr>
          <p:nvPr/>
        </p:nvCxnSpPr>
        <p:spPr>
          <a:xfrm>
            <a:off x="6851830" y="2385801"/>
            <a:ext cx="18542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FBB91F-6C6B-4F55-BCF7-C0C9C01D76FF}"/>
              </a:ext>
            </a:extLst>
          </p:cNvPr>
          <p:cNvCxnSpPr>
            <a:cxnSpLocks/>
          </p:cNvCxnSpPr>
          <p:nvPr/>
        </p:nvCxnSpPr>
        <p:spPr>
          <a:xfrm>
            <a:off x="5716450" y="6068223"/>
            <a:ext cx="113538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86E165-22F5-4D45-BA0A-07B0E473C062}"/>
              </a:ext>
            </a:extLst>
          </p:cNvPr>
          <p:cNvCxnSpPr>
            <a:cxnSpLocks/>
          </p:cNvCxnSpPr>
          <p:nvPr/>
        </p:nvCxnSpPr>
        <p:spPr>
          <a:xfrm>
            <a:off x="6851830" y="6314972"/>
            <a:ext cx="36803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760759-0D60-4E55-8F03-9DDADCF8AC9C}"/>
              </a:ext>
            </a:extLst>
          </p:cNvPr>
          <p:cNvCxnSpPr>
            <a:cxnSpLocks/>
          </p:cNvCxnSpPr>
          <p:nvPr/>
        </p:nvCxnSpPr>
        <p:spPr>
          <a:xfrm flipV="1">
            <a:off x="5725976" y="6058697"/>
            <a:ext cx="0" cy="302757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ự Phòng Mạng Doanh Nghiệp Và Mô hình Mạng 3 Lớp - KAI Networks">
            <a:extLst>
              <a:ext uri="{FF2B5EF4-FFF2-40B4-BE49-F238E27FC236}">
                <a16:creationId xmlns:a16="http://schemas.microsoft.com/office/drawing/2014/main" id="{9CE5463E-8C23-4B8B-A739-D61E96AD0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6" t="10797" r="18690" b="11409"/>
          <a:stretch/>
        </p:blipFill>
        <p:spPr bwMode="auto">
          <a:xfrm>
            <a:off x="6989228" y="2343545"/>
            <a:ext cx="230632" cy="18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89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493472" y="2840587"/>
            <a:ext cx="8285018" cy="1177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6600" i="1" dirty="0"/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157257-a3bf-4ff5-a465-4e2defe95989">
      <Terms xmlns="http://schemas.microsoft.com/office/infopath/2007/PartnerControls"/>
    </lcf76f155ced4ddcb4097134ff3c332f>
    <TaxCatchAll xmlns="5fe9d9f8-cc4e-4bb2-9b11-9758b481ddc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E9727992A24479AC7469DEEDEA94C" ma:contentTypeVersion="18" ma:contentTypeDescription="Create a new document." ma:contentTypeScope="" ma:versionID="61955638a51c6b5b28075ae19238329a">
  <xsd:schema xmlns:xsd="http://www.w3.org/2001/XMLSchema" xmlns:xs="http://www.w3.org/2001/XMLSchema" xmlns:p="http://schemas.microsoft.com/office/2006/metadata/properties" xmlns:ns2="9d157257-a3bf-4ff5-a465-4e2defe95989" xmlns:ns3="5fe9d9f8-cc4e-4bb2-9b11-9758b481ddc1" targetNamespace="http://schemas.microsoft.com/office/2006/metadata/properties" ma:root="true" ma:fieldsID="83e78d16efe5b900a8ad9ecb685341f9" ns2:_="" ns3:_="">
    <xsd:import namespace="9d157257-a3bf-4ff5-a465-4e2defe95989"/>
    <xsd:import namespace="5fe9d9f8-cc4e-4bb2-9b11-9758b481d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157257-a3bf-4ff5-a465-4e2defe95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4cab4e9-b41f-4aee-96b1-c1b3b1261b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9f8-cc4e-4bb2-9b11-9758b481ddc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4bd9be1-660a-4bc7-baff-f2d1738c4dfe}" ma:internalName="TaxCatchAll" ma:showField="CatchAllData" ma:web="5fe9d9f8-cc4e-4bb2-9b11-9758b481dd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54B55F-5538-4AE8-935C-DA4490B9F324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5fe9d9f8-cc4e-4bb2-9b11-9758b481ddc1"/>
    <ds:schemaRef ds:uri="9d157257-a3bf-4ff5-a465-4e2defe9598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2C37217-6F0E-43EB-AC04-DF046BA749E8}">
  <ds:schemaRefs/>
</ds:datastoreItem>
</file>

<file path=customXml/itemProps3.xml><?xml version="1.0" encoding="utf-8"?>
<ds:datastoreItem xmlns:ds="http://schemas.openxmlformats.org/officeDocument/2006/customXml" ds:itemID="{7B20A877-4001-4721-8C8A-1C14853F660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46290</TotalTime>
  <Words>547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Microsoft JhengHei</vt:lpstr>
      <vt:lpstr>Arial</vt:lpstr>
      <vt:lpstr>Arial</vt:lpstr>
      <vt:lpstr>Calibri</vt:lpstr>
      <vt:lpstr>Calibri Light</vt:lpstr>
      <vt:lpstr>Times New Roman</vt:lpstr>
      <vt:lpstr>Office Theme</vt:lpstr>
      <vt:lpstr>BÁO CÁO ĐỀ XUẤT MẠNG MÁY TÍNH HIỆN TRƯỜNG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ĐỀ XUẤT MẠNG CÔNG TY VEW</dc:title>
  <dc:creator>huann</dc:creator>
  <cp:lastModifiedBy> </cp:lastModifiedBy>
  <cp:revision>706</cp:revision>
  <dcterms:created xsi:type="dcterms:W3CDTF">2021-10-01T06:14:00Z</dcterms:created>
  <dcterms:modified xsi:type="dcterms:W3CDTF">2025-12-12T01:12:38Z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E6BD21F564924E7DAA225AE4C0A8FFEE_13</vt:lpwstr>
  </property>
  <property fmtid="{D5CDD505-2E9C-101B-9397-08002B2CF9AE}" pid="3" name="KSOProductBuildVer">
    <vt:lpwstr>1033-12.2.0.18607</vt:lpwstr>
  </property>
  <property fmtid="{D5CDD505-2E9C-101B-9397-08002B2CF9AE}" pid="4" name="ContentTypeId">
    <vt:lpwstr>0x01010003BE9727992A24479AC7469DEEDEA94C</vt:lpwstr>
  </property>
  <property fmtid="{D5CDD505-2E9C-101B-9397-08002B2CF9AE}" pid="5" name="MediaServiceImageTags">
    <vt:lpwstr/>
  </property>
</Properties>
</file>