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63" r:id="rId5"/>
    <p:sldId id="283" r:id="rId6"/>
    <p:sldId id="284" r:id="rId7"/>
    <p:sldId id="285" r:id="rId8"/>
    <p:sldId id="291" r:id="rId9"/>
    <p:sldId id="289" r:id="rId10"/>
    <p:sldId id="287" r:id="rId11"/>
    <p:sldId id="292" r:id="rId12"/>
    <p:sldId id="28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N24322\AppData\Local\Microsoft\Windows\INetCache\IE\V7KQLSJ6\PHOTOCOPY_VPIC1%5b1%5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N24322\AppData\Local\Microsoft\Windows\INetCache\IE\V7KQLSJ6\PHOTOCOPY_VPIC1%5b1%5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[PHOTOCOPY_VPIC1(1).xlsx]Sheet1!PivotTable6</c:name>
    <c:fmtId val="4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zh-TW" sz="2000" b="1" i="0" baseline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最近三個月的維護次數</a:t>
            </a:r>
            <a:endParaRPr lang="en-US" sz="1800" b="1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c:rich>
      </c:tx>
      <c:layout>
        <c:manualLayout>
          <c:xMode val="edge"/>
          <c:yMode val="edge"/>
          <c:x val="0.32515809949575314"/>
          <c:y val="5.4536830242581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layout>
            <c:manualLayout>
              <c:x val="1.1111111111111009E-2"/>
              <c:y val="1.388888888888880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19E63467-CB38-4581-93DC-1D4B7DBA3163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EBC8677D-9A1F-4D82-B7F1-A4A5DA0F471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2FDDA9B7-7996-493E-BFCB-5EF8676C1E19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377B216D-E71A-4A70-9393-CACB1F0AA64A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D0E80BF2-363D-4809-9B36-42DBD36FF80D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03CA6A6A-1D0B-425A-B1B5-6C003A066F9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2FDDA9B7-7996-493E-BFCB-5EF8676C1E19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EBC8677D-9A1F-4D82-B7F1-A4A5DA0F471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03CA6A6A-1D0B-425A-B1B5-6C003A066F9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377B216D-E71A-4A70-9393-CACB1F0AA64A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D0E80BF2-363D-4809-9B36-42DBD36FF80D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layout>
            <c:manualLayout>
              <c:x val="1.1111111111111009E-2"/>
              <c:y val="1.388888888888880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19E63467-CB38-4581-93DC-1D4B7DBA3163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2FDDA9B7-7996-493E-BFCB-5EF8676C1E19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EBC8677D-9A1F-4D82-B7F1-A4A5DA0F471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03CA6A6A-1D0B-425A-B1B5-6C003A066F9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377B216D-E71A-4A70-9393-CACB1F0AA64A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D0E80BF2-363D-4809-9B36-42DBD36FF80D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layout>
            <c:manualLayout>
              <c:x val="1.1111111111111009E-2"/>
              <c:y val="1.388888888888880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19E63467-CB38-4581-93DC-1D4B7DBA3163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0372398140497922E-2"/>
          <c:y val="0.20434466446894284"/>
          <c:w val="0.61078007432664871"/>
          <c:h val="0.666825708753512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最近三個月的維護次數 Số lần bảo trì 3 tháng gần nhất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FDDA9B7-7996-493E-BFCB-5EF8676C1E19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464-4726-9BC0-64DD83D96E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BC8677D-9A1F-4D82-B7F1-A4A5DA0F471E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464-4726-9BC0-64DD83D96E9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3CA6A6A-1D0B-425A-B1B5-6C003A066F9E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464-4726-9BC0-64DD83D96E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3"/>
                <c:pt idx="0">
                  <c:v>H870-LP</c:v>
                </c:pt>
                <c:pt idx="1">
                  <c:v>I085-NGOC HA</c:v>
                </c:pt>
                <c:pt idx="2">
                  <c:v>I220-NAM KHANH</c:v>
                </c:pt>
              </c:strCache>
            </c:strRef>
          </c:cat>
          <c:val>
            <c:numRef>
              <c:f>Sheet1!$B$4:$B$7</c:f>
              <c:numCache>
                <c:formatCode>General</c:formatCode>
                <c:ptCount val="3"/>
                <c:pt idx="0">
                  <c:v>5</c:v>
                </c:pt>
                <c:pt idx="1">
                  <c:v>56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464-4726-9BC0-64DD83D96E92}"/>
            </c:ext>
          </c:extLst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廠商出租設備的數量 Số máy NCC cho thuê 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E464-4726-9BC0-64DD83D96E9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77B216D-E71A-4A70-9393-CACB1F0AA64A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E464-4726-9BC0-64DD83D96E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0E80BF2-363D-4809-9B36-42DBD36FF80D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E464-4726-9BC0-64DD83D96E92}"/>
                </c:ext>
              </c:extLst>
            </c:dLbl>
            <c:dLbl>
              <c:idx val="2"/>
              <c:layout>
                <c:manualLayout>
                  <c:x val="1.1111111111111009E-2"/>
                  <c:y val="1.3888888888888805E-2"/>
                </c:manualLayout>
              </c:layout>
              <c:tx>
                <c:rich>
                  <a:bodyPr/>
                  <a:lstStyle/>
                  <a:p>
                    <a:fld id="{19E63467-CB38-4581-93DC-1D4B7DBA3163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464-4726-9BC0-64DD83D96E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3"/>
                <c:pt idx="0">
                  <c:v>H870-LP</c:v>
                </c:pt>
                <c:pt idx="1">
                  <c:v>I085-NGOC HA</c:v>
                </c:pt>
                <c:pt idx="2">
                  <c:v>I220-NAM KHANH</c:v>
                </c:pt>
              </c:strCache>
            </c:strRef>
          </c:cat>
          <c:val>
            <c:numRef>
              <c:f>Sheet1!$C$4:$C$7</c:f>
              <c:numCache>
                <c:formatCode>General</c:formatCode>
                <c:ptCount val="3"/>
                <c:pt idx="0">
                  <c:v>2</c:v>
                </c:pt>
                <c:pt idx="1">
                  <c:v>8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64-4726-9BC0-64DD83D96E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495320272"/>
        <c:axId val="1553102656"/>
        <c:axId val="0"/>
      </c:bar3DChart>
      <c:catAx>
        <c:axId val="149532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53102656"/>
        <c:crosses val="autoZero"/>
        <c:auto val="1"/>
        <c:lblAlgn val="ctr"/>
        <c:lblOffset val="100"/>
        <c:noMultiLvlLbl val="0"/>
      </c:catAx>
      <c:valAx>
        <c:axId val="155310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532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8364568029076977"/>
          <c:y val="0.50651523601886128"/>
          <c:w val="0.19675429690087115"/>
          <c:h val="0.317028053147971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[PHOTOCOPY_VPIC1(1).xlsx]Sheet1!PivotTable6</c:name>
    <c:fmtId val="4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zh-TW" sz="2000" b="1" i="0" baseline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最近三個月的維護次數</a:t>
            </a:r>
            <a:endParaRPr lang="en-US" sz="1800" b="1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c:rich>
      </c:tx>
      <c:layout>
        <c:manualLayout>
          <c:xMode val="edge"/>
          <c:yMode val="edge"/>
          <c:x val="0.32515809949575314"/>
          <c:y val="5.4536830242581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layout>
            <c:manualLayout>
              <c:x val="1.1111111111111009E-2"/>
              <c:y val="1.388888888888880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19E63467-CB38-4581-93DC-1D4B7DBA3163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EBC8677D-9A1F-4D82-B7F1-A4A5DA0F471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2FDDA9B7-7996-493E-BFCB-5EF8676C1E19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377B216D-E71A-4A70-9393-CACB1F0AA64A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D0E80BF2-363D-4809-9B36-42DBD36FF80D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03CA6A6A-1D0B-425A-B1B5-6C003A066F9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2FDDA9B7-7996-493E-BFCB-5EF8676C1E19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EBC8677D-9A1F-4D82-B7F1-A4A5DA0F471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03CA6A6A-1D0B-425A-B1B5-6C003A066F9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377B216D-E71A-4A70-9393-CACB1F0AA64A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D0E80BF2-363D-4809-9B36-42DBD36FF80D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layout>
            <c:manualLayout>
              <c:x val="1.1111111111111009E-2"/>
              <c:y val="1.388888888888880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19E63467-CB38-4581-93DC-1D4B7DBA3163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2FDDA9B7-7996-493E-BFCB-5EF8676C1E19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EBC8677D-9A1F-4D82-B7F1-A4A5DA0F471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03CA6A6A-1D0B-425A-B1B5-6C003A066F9E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377B216D-E71A-4A70-9393-CACB1F0AA64A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D0E80BF2-363D-4809-9B36-42DBD36FF80D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dLbl>
          <c:idx val="0"/>
          <c:layout>
            <c:manualLayout>
              <c:x val="1.1111111111111009E-2"/>
              <c:y val="1.388888888888880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fld id="{19E63467-CB38-4581-93DC-1D4B7DBA3163}" type="VALUE">
                  <a:rPr lang="en-US" sz="2000" b="1"/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0372398140497922E-2"/>
          <c:y val="0.20434466446894284"/>
          <c:w val="0.61078007432664871"/>
          <c:h val="0.666825708753512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最近三個月的維護次數 Số lần bảo trì 3 tháng gần nhất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FDDA9B7-7996-493E-BFCB-5EF8676C1E19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6F2-4EE9-B3F5-3B59EF9943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BC8677D-9A1F-4D82-B7F1-A4A5DA0F471E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6F2-4EE9-B3F5-3B59EF9943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3CA6A6A-1D0B-425A-B1B5-6C003A066F9E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6F2-4EE9-B3F5-3B59EF9943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3"/>
                <c:pt idx="0">
                  <c:v>H870-LP</c:v>
                </c:pt>
                <c:pt idx="1">
                  <c:v>I085-NGOC HA</c:v>
                </c:pt>
                <c:pt idx="2">
                  <c:v>I220-NAM KHANH</c:v>
                </c:pt>
              </c:strCache>
            </c:strRef>
          </c:cat>
          <c:val>
            <c:numRef>
              <c:f>Sheet1!$B$4:$B$7</c:f>
              <c:numCache>
                <c:formatCode>General</c:formatCode>
                <c:ptCount val="3"/>
                <c:pt idx="0">
                  <c:v>5</c:v>
                </c:pt>
                <c:pt idx="1">
                  <c:v>56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F2-4EE9-B3F5-3B59EF994302}"/>
            </c:ext>
          </c:extLst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廠商出租設備的數量 Số máy NCC cho thuê 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36F2-4EE9-B3F5-3B59EF99430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77B216D-E71A-4A70-9393-CACB1F0AA64A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36F2-4EE9-B3F5-3B59EF9943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0E80BF2-363D-4809-9B36-42DBD36FF80D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36F2-4EE9-B3F5-3B59EF994302}"/>
                </c:ext>
              </c:extLst>
            </c:dLbl>
            <c:dLbl>
              <c:idx val="2"/>
              <c:layout>
                <c:manualLayout>
                  <c:x val="1.1111111111111009E-2"/>
                  <c:y val="1.3888888888888805E-2"/>
                </c:manualLayout>
              </c:layout>
              <c:tx>
                <c:rich>
                  <a:bodyPr/>
                  <a:lstStyle/>
                  <a:p>
                    <a:fld id="{19E63467-CB38-4581-93DC-1D4B7DBA3163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36F2-4EE9-B3F5-3B59EF9943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3"/>
                <c:pt idx="0">
                  <c:v>H870-LP</c:v>
                </c:pt>
                <c:pt idx="1">
                  <c:v>I085-NGOC HA</c:v>
                </c:pt>
                <c:pt idx="2">
                  <c:v>I220-NAM KHANH</c:v>
                </c:pt>
              </c:strCache>
            </c:strRef>
          </c:cat>
          <c:val>
            <c:numRef>
              <c:f>Sheet1!$C$4:$C$7</c:f>
              <c:numCache>
                <c:formatCode>General</c:formatCode>
                <c:ptCount val="3"/>
                <c:pt idx="0">
                  <c:v>2</c:v>
                </c:pt>
                <c:pt idx="1">
                  <c:v>8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6F2-4EE9-B3F5-3B59EF9943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495320272"/>
        <c:axId val="1553102656"/>
        <c:axId val="0"/>
      </c:bar3DChart>
      <c:catAx>
        <c:axId val="149532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53102656"/>
        <c:crosses val="autoZero"/>
        <c:auto val="1"/>
        <c:lblAlgn val="ctr"/>
        <c:lblOffset val="100"/>
        <c:noMultiLvlLbl val="0"/>
      </c:catAx>
      <c:valAx>
        <c:axId val="155310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532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8364568029076977"/>
          <c:y val="0.50651523601886128"/>
          <c:w val="0.19675429690087115"/>
          <c:h val="0.317028053147971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5722A-307A-4EE0-B7F2-0E7921FB22E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D84A8-577A-4375-B9D9-B95091F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D84A8-577A-4375-B9D9-B95091FA6B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53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D84A8-577A-4375-B9D9-B95091FA6B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9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22108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863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826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033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09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586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763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546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546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576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03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1AEB4-0CCB-45A8-9056-41B8543B4EE7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MIS.18119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4FB84-0C85-41BB-BE5A-55EA2FD8868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95" y="0"/>
            <a:ext cx="1568800" cy="101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0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0445" y="1960630"/>
            <a:ext cx="9900482" cy="796508"/>
          </a:xfrm>
        </p:spPr>
        <p:txBody>
          <a:bodyPr>
            <a:noAutofit/>
          </a:bodyPr>
          <a:lstStyle/>
          <a:p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ĐỀ XUẤT THUÊ MÁY PHOTOCOPY 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40445" y="2656494"/>
            <a:ext cx="9900482" cy="7965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000" b="1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事務機</a:t>
            </a:r>
            <a:r>
              <a:rPr lang="zh-CN" altLang="en-US" sz="4000" b="1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租用建議</a:t>
            </a:r>
            <a:endParaRPr lang="en-US" sz="4000" b="1">
              <a:solidFill>
                <a:srgbClr val="0000CC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11773" y="5753686"/>
            <a:ext cx="3247292" cy="49237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MIS 2025 </a:t>
            </a:r>
            <a:r>
              <a:rPr lang="en-US" altLang="zh-CN" sz="2000" i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NOV</a:t>
            </a:r>
            <a:endParaRPr lang="en-US" sz="2000" i="1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4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246" y="199291"/>
            <a:ext cx="9356080" cy="59318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HIỆN TRẠNG/ </a:t>
            </a:r>
            <a:r>
              <a:rPr lang="zh-CN" altLang="en-US" sz="2800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現狀</a:t>
            </a:r>
            <a:endParaRPr lang="en-US" sz="2800" b="1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B3E308-B48F-41E4-B4B4-3BF47E099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251287"/>
              </p:ext>
            </p:extLst>
          </p:nvPr>
        </p:nvGraphicFramePr>
        <p:xfrm>
          <a:off x="365883" y="1255867"/>
          <a:ext cx="11292717" cy="4658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745">
                  <a:extLst>
                    <a:ext uri="{9D8B030D-6E8A-4147-A177-3AD203B41FA5}">
                      <a16:colId xmlns:a16="http://schemas.microsoft.com/office/drawing/2014/main" val="1950781771"/>
                    </a:ext>
                  </a:extLst>
                </a:gridCol>
                <a:gridCol w="1524783">
                  <a:extLst>
                    <a:ext uri="{9D8B030D-6E8A-4147-A177-3AD203B41FA5}">
                      <a16:colId xmlns:a16="http://schemas.microsoft.com/office/drawing/2014/main" val="1710908113"/>
                    </a:ext>
                  </a:extLst>
                </a:gridCol>
                <a:gridCol w="1251764">
                  <a:extLst>
                    <a:ext uri="{9D8B030D-6E8A-4147-A177-3AD203B41FA5}">
                      <a16:colId xmlns:a16="http://schemas.microsoft.com/office/drawing/2014/main" val="476821627"/>
                    </a:ext>
                  </a:extLst>
                </a:gridCol>
                <a:gridCol w="1251764">
                  <a:extLst>
                    <a:ext uri="{9D8B030D-6E8A-4147-A177-3AD203B41FA5}">
                      <a16:colId xmlns:a16="http://schemas.microsoft.com/office/drawing/2014/main" val="3386846751"/>
                    </a:ext>
                  </a:extLst>
                </a:gridCol>
                <a:gridCol w="1251764">
                  <a:extLst>
                    <a:ext uri="{9D8B030D-6E8A-4147-A177-3AD203B41FA5}">
                      <a16:colId xmlns:a16="http://schemas.microsoft.com/office/drawing/2014/main" val="1397470509"/>
                    </a:ext>
                  </a:extLst>
                </a:gridCol>
                <a:gridCol w="1251764">
                  <a:extLst>
                    <a:ext uri="{9D8B030D-6E8A-4147-A177-3AD203B41FA5}">
                      <a16:colId xmlns:a16="http://schemas.microsoft.com/office/drawing/2014/main" val="2507802336"/>
                    </a:ext>
                  </a:extLst>
                </a:gridCol>
                <a:gridCol w="1251764">
                  <a:extLst>
                    <a:ext uri="{9D8B030D-6E8A-4147-A177-3AD203B41FA5}">
                      <a16:colId xmlns:a16="http://schemas.microsoft.com/office/drawing/2014/main" val="4011853930"/>
                    </a:ext>
                  </a:extLst>
                </a:gridCol>
                <a:gridCol w="1251764">
                  <a:extLst>
                    <a:ext uri="{9D8B030D-6E8A-4147-A177-3AD203B41FA5}">
                      <a16:colId xmlns:a16="http://schemas.microsoft.com/office/drawing/2014/main" val="3659989364"/>
                    </a:ext>
                  </a:extLst>
                </a:gridCol>
                <a:gridCol w="1278605">
                  <a:extLst>
                    <a:ext uri="{9D8B030D-6E8A-4147-A177-3AD203B41FA5}">
                      <a16:colId xmlns:a16="http://schemas.microsoft.com/office/drawing/2014/main" val="2469366020"/>
                    </a:ext>
                  </a:extLst>
                </a:gridCol>
              </a:tblGrid>
              <a:tr h="549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STT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序號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Bộ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phận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部門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Tên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máy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設備名稱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NCC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廠商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Thời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cung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cấp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máy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事務機提供時間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Thời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ế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hợp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đồng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合約到期時間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lần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trì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tháng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9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九月份維護次數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lần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trì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tháng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10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十月份維護次數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lần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trì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tháng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11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十一月份維護次數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180694"/>
                  </a:ext>
                </a:extLst>
              </a:tr>
              <a:tr h="5091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Dập5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màu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五廠沖壓</a:t>
                      </a:r>
                      <a:r>
                        <a:rPr lang="en-US" altLang="zh-TW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彩色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DC-V C3374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H870-LP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14/04/2021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372392"/>
                  </a:ext>
                </a:extLst>
              </a:tr>
              <a:tr h="5402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Dập5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đen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trắng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五廠沖壓</a:t>
                      </a:r>
                      <a:r>
                        <a:rPr lang="en-US" altLang="zh-TW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黑白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Ricoh Aficio MP 5002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13/03/2024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942776"/>
                  </a:ext>
                </a:extLst>
              </a:tr>
              <a:tr h="5775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Kaifa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màu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開發</a:t>
                      </a:r>
                      <a:r>
                        <a:rPr lang="en-US" altLang="ja-JP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彩色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DC-V C3374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H870-LP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21/02/2025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518026"/>
                  </a:ext>
                </a:extLst>
              </a:tr>
              <a:tr h="5775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Kaifa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đen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trắng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開發</a:t>
                      </a:r>
                      <a:r>
                        <a:rPr lang="en-US" altLang="ja-JP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黑白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04/04/2022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778807"/>
                  </a:ext>
                </a:extLst>
              </a:tr>
              <a:tr h="6256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Văn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x3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三廠辦公室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15/06/2025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528328"/>
                  </a:ext>
                </a:extLst>
              </a:tr>
              <a:tr h="506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12/04/2023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615952"/>
                  </a:ext>
                </a:extLst>
              </a:tr>
              <a:tr h="519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Ricoh Aficio MP 6002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16/12/2024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294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04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983" y="192072"/>
            <a:ext cx="9356080" cy="675941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HIỆN TRẠNG/</a:t>
            </a:r>
            <a:r>
              <a:rPr lang="zh-CN" altLang="en-US" sz="2800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現狀</a:t>
            </a:r>
            <a:endParaRPr lang="en-US" sz="2800" b="1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83A0F2-7F61-484C-90B7-AA4DB19DB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397960"/>
              </p:ext>
            </p:extLst>
          </p:nvPr>
        </p:nvGraphicFramePr>
        <p:xfrm>
          <a:off x="480645" y="1282374"/>
          <a:ext cx="11218986" cy="5154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671">
                  <a:extLst>
                    <a:ext uri="{9D8B030D-6E8A-4147-A177-3AD203B41FA5}">
                      <a16:colId xmlns:a16="http://schemas.microsoft.com/office/drawing/2014/main" val="1950781771"/>
                    </a:ext>
                  </a:extLst>
                </a:gridCol>
                <a:gridCol w="1518437">
                  <a:extLst>
                    <a:ext uri="{9D8B030D-6E8A-4147-A177-3AD203B41FA5}">
                      <a16:colId xmlns:a16="http://schemas.microsoft.com/office/drawing/2014/main" val="1710908113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476821627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3386846751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1397470509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2507802336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4011853930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3659989364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2469366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STT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序號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Bộ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phận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部門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Tên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máy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設備名稱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NCC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廠商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Thời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cung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cấp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máy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事務機提供時間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Thời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ế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hợp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đồng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合約到期時間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lần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trì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tháng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9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九月份維護次數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lần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trì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tháng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10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十月份維護次數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lần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trì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tháng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11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十一月份維護次數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180694"/>
                  </a:ext>
                </a:extLst>
              </a:tr>
              <a:tr h="574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ế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toán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財務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Ricoh Aficio MP 7502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12/12/2020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372392"/>
                  </a:ext>
                </a:extLst>
              </a:tr>
              <a:tr h="4932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Kinh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Doanh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業務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12/12/2020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917853"/>
                  </a:ext>
                </a:extLst>
              </a:tr>
              <a:tr h="5654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màu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加工</a:t>
                      </a:r>
                      <a:r>
                        <a:rPr lang="en-US" altLang="ja-JP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彩色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DC-V C2276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I220-NAM KHANH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07/09/2021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942776"/>
                  </a:ext>
                </a:extLst>
              </a:tr>
              <a:tr h="51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đen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trắng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加工</a:t>
                      </a:r>
                      <a:r>
                        <a:rPr lang="en-US" altLang="ja-JP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黑白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I220-NAM KHANH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07/09/2021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518026"/>
                  </a:ext>
                </a:extLst>
              </a:tr>
              <a:tr h="5775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Kho TP3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三廠成品庫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AltaLink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I220-NAM KHANH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13/06/2025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778807"/>
                  </a:ext>
                </a:extLst>
              </a:tr>
              <a:tr h="5414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Xưởng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6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màu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六廠</a:t>
                      </a:r>
                      <a:r>
                        <a:rPr lang="en-US" altLang="zh-TW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彩色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DC-V C2276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I220-NAM KHANH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17/11/2022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528328"/>
                  </a:ext>
                </a:extLst>
              </a:tr>
              <a:tr h="5654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Thumua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採購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I220-NAM KHANH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19/02/2022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12/07/2026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615952"/>
                  </a:ext>
                </a:extLst>
              </a:tr>
              <a:tr h="51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QLSX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生管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12/06/2023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294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198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246" y="199291"/>
            <a:ext cx="9356080" cy="675941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VẤN ĐỀ GẶP PHẢI/ </a:t>
            </a:r>
            <a:r>
              <a:rPr lang="zh-CN" altLang="en-US" sz="2800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問題</a:t>
            </a:r>
            <a:endParaRPr lang="en-US" sz="2800" b="1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E8953F-E584-44F8-84EE-16274337E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821701"/>
              </p:ext>
            </p:extLst>
          </p:nvPr>
        </p:nvGraphicFramePr>
        <p:xfrm>
          <a:off x="712689" y="976398"/>
          <a:ext cx="10766621" cy="5590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268">
                  <a:extLst>
                    <a:ext uri="{9D8B030D-6E8A-4147-A177-3AD203B41FA5}">
                      <a16:colId xmlns:a16="http://schemas.microsoft.com/office/drawing/2014/main" val="1827284404"/>
                    </a:ext>
                  </a:extLst>
                </a:gridCol>
                <a:gridCol w="1653592">
                  <a:extLst>
                    <a:ext uri="{9D8B030D-6E8A-4147-A177-3AD203B41FA5}">
                      <a16:colId xmlns:a16="http://schemas.microsoft.com/office/drawing/2014/main" val="2130420496"/>
                    </a:ext>
                  </a:extLst>
                </a:gridCol>
                <a:gridCol w="1543864">
                  <a:extLst>
                    <a:ext uri="{9D8B030D-6E8A-4147-A177-3AD203B41FA5}">
                      <a16:colId xmlns:a16="http://schemas.microsoft.com/office/drawing/2014/main" val="892005057"/>
                    </a:ext>
                  </a:extLst>
                </a:gridCol>
                <a:gridCol w="1580917">
                  <a:extLst>
                    <a:ext uri="{9D8B030D-6E8A-4147-A177-3AD203B41FA5}">
                      <a16:colId xmlns:a16="http://schemas.microsoft.com/office/drawing/2014/main" val="1106837527"/>
                    </a:ext>
                  </a:extLst>
                </a:gridCol>
                <a:gridCol w="2992648">
                  <a:extLst>
                    <a:ext uri="{9D8B030D-6E8A-4147-A177-3AD203B41FA5}">
                      <a16:colId xmlns:a16="http://schemas.microsoft.com/office/drawing/2014/main" val="96977450"/>
                    </a:ext>
                  </a:extLst>
                </a:gridCol>
                <a:gridCol w="1534332">
                  <a:extLst>
                    <a:ext uri="{9D8B030D-6E8A-4147-A177-3AD203B41FA5}">
                      <a16:colId xmlns:a16="http://schemas.microsoft.com/office/drawing/2014/main" val="4159897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trí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位置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NCC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廠商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sinh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發生問題日期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tả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lỗi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問題描述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狀態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30320"/>
                  </a:ext>
                </a:extLst>
              </a:tr>
              <a:tr h="6517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財務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Ricoh Aficio MP 7502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07/10/2025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Gãy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tay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kéo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khay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giấy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事務機紙盒拉手壞掉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vi-V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thành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未完成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453257"/>
                  </a:ext>
                </a:extLst>
              </a:tr>
              <a:tr h="627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財務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Ricoh Aficio MP 7502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03/11/2025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Hỏng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khay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giấy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紙盒壞掉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vi-V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thành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未完成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437062"/>
                  </a:ext>
                </a:extLst>
              </a:tr>
              <a:tr h="6068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Kaifa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開發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18/11/2025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Mã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0" kern="120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047-211 OCT1 </a:t>
                      </a:r>
                      <a:r>
                        <a:rPr lang="en-US" sz="1400" b="0" i="0" kern="120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0" kern="120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hoạt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0" kern="120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đông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RAP</a:t>
                      </a:r>
                    </a:p>
                    <a:p>
                      <a:pPr algn="ctr"/>
                      <a:r>
                        <a:rPr lang="en-US" sz="1400" b="0" i="0" kern="120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047-211 OCT1 </a:t>
                      </a:r>
                      <a:r>
                        <a:rPr lang="zh-CN" altLang="en-US" sz="1400" b="0" i="0" kern="120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錯誤，無法啟動</a:t>
                      </a:r>
                      <a:r>
                        <a:rPr lang="en-US" altLang="zh-CN" sz="1400" b="0" i="0" kern="120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RAP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已處理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140550"/>
                  </a:ext>
                </a:extLst>
              </a:tr>
              <a:tr h="60682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QA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17/11/2025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trống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in,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nhòe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列印模糊、空白故障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已處理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871422"/>
                  </a:ext>
                </a:extLst>
              </a:tr>
              <a:tr h="6300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Dập5</a:t>
                      </a:r>
                      <a:b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五廠</a:t>
                      </a:r>
                      <a:endParaRPr lang="zh-TW" alt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Ricoh Aficio MP 5002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20/11/2025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kẹt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giấy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卡紙故障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已處理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519954"/>
                  </a:ext>
                </a:extLst>
              </a:tr>
              <a:tr h="5874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QLSX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生管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I085-NGOC 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03/11/2025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kẹt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giấy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卡紙故障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已處理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025232"/>
                  </a:ext>
                </a:extLst>
              </a:tr>
              <a:tr h="587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6</a:t>
                      </a:r>
                      <a:b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六廠</a:t>
                      </a:r>
                      <a:endParaRPr lang="zh-TW" alt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DC-V C2276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I220-NAM KHANH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04/11/2025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lệch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màu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列印顏色錯誤故障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已處理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084429"/>
                  </a:ext>
                </a:extLst>
              </a:tr>
              <a:tr h="5874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THUMUA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採購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I220-NAM KHANH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05/11/2025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kẹt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giấy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卡紙故障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已處理</a:t>
                      </a:r>
                      <a:endParaRPr lang="en-US" sz="14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771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80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793" y="169885"/>
            <a:ext cx="9356080" cy="675941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800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問題</a:t>
            </a:r>
            <a:endParaRPr lang="en-US" sz="2800" b="1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CC56C-B44D-46C2-9156-1BC321733B6F}"/>
              </a:ext>
            </a:extLst>
          </p:cNvPr>
          <p:cNvSpPr txBox="1"/>
          <p:nvPr/>
        </p:nvSpPr>
        <p:spPr>
          <a:xfrm>
            <a:off x="6652915" y="1100180"/>
            <a:ext cx="4800600" cy="1103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三廠辦公室使用 </a:t>
            </a:r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DocuCentre-IV 3065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事務機的掃描功能出現錯誤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2025.11.18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已通知 </a:t>
            </a:r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I085-NGOC HA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廠商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這台事務機常發生故障</a:t>
            </a:r>
            <a:endParaRPr lang="en-US" sz="14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AA399-0B24-40CD-B324-24FB123BC3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15"/>
          <a:stretch/>
        </p:blipFill>
        <p:spPr>
          <a:xfrm>
            <a:off x="6652915" y="2287638"/>
            <a:ext cx="4590958" cy="4237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AEB71-54EA-419D-A80E-74AEA91B1E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t="20187" b="2630"/>
          <a:stretch/>
        </p:blipFill>
        <p:spPr>
          <a:xfrm>
            <a:off x="1438322" y="2287638"/>
            <a:ext cx="4046622" cy="4237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BB2903-1BBA-4863-B07C-21111EAFA154}"/>
              </a:ext>
            </a:extLst>
          </p:cNvPr>
          <p:cNvSpPr txBox="1"/>
          <p:nvPr/>
        </p:nvSpPr>
        <p:spPr>
          <a:xfrm>
            <a:off x="1438322" y="1126635"/>
            <a:ext cx="4657677" cy="845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財務使用 </a:t>
            </a:r>
            <a:r>
              <a:rPr lang="en-US" sz="1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Ricoh Aficio MP 7502 </a:t>
            </a:r>
            <a:r>
              <a:rPr lang="zh-CN" alt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事務機 的紙盒被壞掉。</a:t>
            </a:r>
            <a:endParaRPr lang="en-US" altLang="zh-CN" sz="140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2025.10.07 </a:t>
            </a:r>
            <a:r>
              <a:rPr lang="zh-CN" alt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已通知給 </a:t>
            </a:r>
            <a:r>
              <a:rPr lang="en-US" sz="1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I085-NGOC HA </a:t>
            </a:r>
            <a:r>
              <a:rPr lang="zh-CN" altLang="en-US" sz="1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廠商，</a:t>
            </a:r>
            <a:endParaRPr lang="en-US" altLang="zh-CN" sz="1400" b="1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但到今天仍未處理完畢</a:t>
            </a:r>
            <a:endParaRPr lang="en-US" sz="140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C372C8-EBDE-42EB-B130-31F7F72C3943}"/>
              </a:ext>
            </a:extLst>
          </p:cNvPr>
          <p:cNvCxnSpPr>
            <a:cxnSpLocks/>
          </p:cNvCxnSpPr>
          <p:nvPr/>
        </p:nvCxnSpPr>
        <p:spPr>
          <a:xfrm>
            <a:off x="6096000" y="1050416"/>
            <a:ext cx="0" cy="5727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76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199291"/>
            <a:ext cx="9516686" cy="675941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VẤN ĐỀ GẶP PHẢI</a:t>
            </a:r>
            <a:endParaRPr lang="en-US" sz="2800" b="1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CC56C-B44D-46C2-9156-1BC321733B6F}"/>
              </a:ext>
            </a:extLst>
          </p:cNvPr>
          <p:cNvSpPr txBox="1"/>
          <p:nvPr/>
        </p:nvSpPr>
        <p:spPr>
          <a:xfrm>
            <a:off x="6717856" y="875232"/>
            <a:ext cx="4852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DocuCentre-IV 3065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X3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SCAN.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I085-NGOC HA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18/11/2025.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AA399-0B24-40CD-B324-24FB123BC3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15"/>
          <a:stretch/>
        </p:blipFill>
        <p:spPr>
          <a:xfrm>
            <a:off x="6717856" y="2009273"/>
            <a:ext cx="4852822" cy="4864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AEB71-54EA-419D-A80E-74AEA91B1E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t="18120"/>
          <a:stretch/>
        </p:blipFill>
        <p:spPr>
          <a:xfrm>
            <a:off x="1155032" y="2161621"/>
            <a:ext cx="4319113" cy="46115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BB2903-1BBA-4863-B07C-21111EAFA154}"/>
              </a:ext>
            </a:extLst>
          </p:cNvPr>
          <p:cNvSpPr txBox="1"/>
          <p:nvPr/>
        </p:nvSpPr>
        <p:spPr>
          <a:xfrm>
            <a:off x="1070470" y="961292"/>
            <a:ext cx="4788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Ricoh Aficio MP 7502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TÀI VỤ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khay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I085-NGOC HA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07/10/2025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900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246" y="199291"/>
            <a:ext cx="9356080" cy="675941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3.1 ĐỀ XUẤT NÂNG CẤP MODEL/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建議更換新的型號</a:t>
            </a:r>
            <a:endParaRPr lang="en-US" sz="2800" b="1">
              <a:solidFill>
                <a:srgbClr val="0000CC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979C91-C97C-48D9-B998-035C64650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711609"/>
              </p:ext>
            </p:extLst>
          </p:nvPr>
        </p:nvGraphicFramePr>
        <p:xfrm>
          <a:off x="1434122" y="829713"/>
          <a:ext cx="9081477" cy="5836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19">
                  <a:extLst>
                    <a:ext uri="{9D8B030D-6E8A-4147-A177-3AD203B41FA5}">
                      <a16:colId xmlns:a16="http://schemas.microsoft.com/office/drawing/2014/main" val="345328500"/>
                    </a:ext>
                  </a:extLst>
                </a:gridCol>
                <a:gridCol w="2500764">
                  <a:extLst>
                    <a:ext uri="{9D8B030D-6E8A-4147-A177-3AD203B41FA5}">
                      <a16:colId xmlns:a16="http://schemas.microsoft.com/office/drawing/2014/main" val="3785824491"/>
                    </a:ext>
                  </a:extLst>
                </a:gridCol>
                <a:gridCol w="3203525">
                  <a:extLst>
                    <a:ext uri="{9D8B030D-6E8A-4147-A177-3AD203B41FA5}">
                      <a16:colId xmlns:a16="http://schemas.microsoft.com/office/drawing/2014/main" val="2358135918"/>
                    </a:ext>
                  </a:extLst>
                </a:gridCol>
                <a:gridCol w="2270369">
                  <a:extLst>
                    <a:ext uri="{9D8B030D-6E8A-4147-A177-3AD203B41FA5}">
                      <a16:colId xmlns:a16="http://schemas.microsoft.com/office/drawing/2014/main" val="963448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trí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位置</a:t>
                      </a:r>
                      <a:endParaRPr lang="en-US" sz="16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Model </a:t>
                      </a:r>
                      <a:r>
                        <a:rPr lang="en-US" sz="16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cũ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舊的型號</a:t>
                      </a:r>
                      <a:endParaRPr lang="en-US" sz="16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Model </a:t>
                      </a:r>
                      <a:r>
                        <a:rPr lang="en-US" sz="160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新的型號</a:t>
                      </a:r>
                      <a:endParaRPr lang="en-US" sz="160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201187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Dập5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đen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trắng</a:t>
                      </a:r>
                      <a: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altLang="zh-TW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五廠沖壓</a:t>
                      </a:r>
                      <a:r>
                        <a:rPr lang="en-US" altLang="zh-TW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黑白</a:t>
                      </a:r>
                      <a:endParaRPr lang="zh-TW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Ricoh Aficio MP 5002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925050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Kaifa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đen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trắng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開發</a:t>
                      </a:r>
                      <a:r>
                        <a:rPr lang="en-US" altLang="ja-JP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黑白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330077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phòng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x3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三廠辦公室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949601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898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QC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Ricoh Aficio MP 6002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378136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toán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財務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Ricoh Aficio MP 7502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92934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Kinh Doanh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業務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81679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Gia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đen</a:t>
                      </a: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trắng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加工</a:t>
                      </a:r>
                      <a:r>
                        <a:rPr lang="en-US" altLang="ja-JP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黑白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377916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Thu </a:t>
                      </a:r>
                      <a:r>
                        <a:rPr lang="en-US" sz="13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mua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採購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573597"/>
                  </a:ext>
                </a:extLst>
              </a:tr>
              <a:tr h="5257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QLSX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</a:br>
                      <a:r>
                        <a:rPr lang="ja-JP" alt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生管</a:t>
                      </a:r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DC-IV 3065 CPS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Xerox </a:t>
                      </a:r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AltaLink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C8155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781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59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246" y="199291"/>
            <a:ext cx="9356080" cy="675941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建議</a:t>
            </a:r>
            <a:r>
              <a:rPr lang="zh-TW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更換租賃廠商</a:t>
            </a:r>
            <a:endParaRPr lang="en-US" sz="28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6B400-047D-4AD3-9DA2-6E2B2C485BB1}"/>
              </a:ext>
            </a:extLst>
          </p:cNvPr>
          <p:cNvSpPr txBox="1"/>
          <p:nvPr/>
        </p:nvSpPr>
        <p:spPr>
          <a:xfrm>
            <a:off x="2129589" y="1145174"/>
            <a:ext cx="7772400" cy="952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600" b="1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I085-Ngọc </a:t>
            </a:r>
            <a:r>
              <a:rPr lang="en-US" sz="1600" b="1" err="1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Hà</a:t>
            </a:r>
            <a:r>
              <a:rPr lang="en-US" sz="1600" b="1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600" b="1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廠商</a:t>
            </a:r>
            <a:r>
              <a:rPr lang="zh-CN" altLang="en-US" sz="1600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常去處理事務機故障，尤其 財務使用的那台</a:t>
            </a:r>
            <a:r>
              <a:rPr lang="en-US" sz="1600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Ricoh Aficio MP7502 </a:t>
            </a:r>
            <a:r>
              <a:rPr lang="zh-CN" altLang="en-US" sz="1600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，自</a:t>
            </a:r>
            <a:r>
              <a:rPr lang="en-US" sz="1600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zh-CN" altLang="en-US" sz="1600">
                <a:solidFill>
                  <a:srgbClr val="0000CC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月發生故障以來，至今仍未修復完成</a:t>
            </a:r>
            <a:endParaRPr lang="en-US" sz="1600">
              <a:solidFill>
                <a:srgbClr val="0000CC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建議：考慮將 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I085-Ngọc </a:t>
            </a:r>
            <a:r>
              <a:rPr lang="en-US" altLang="zh-CN" sz="1600" b="1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Hà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廠商更換為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H870-LP 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廠商或 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I220- Nam </a:t>
            </a:r>
            <a:r>
              <a:rPr lang="en-US" altLang="zh-CN" sz="1600" b="1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Khánh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 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廠商</a:t>
            </a:r>
            <a:endParaRPr lang="en-US" sz="16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6502CEC-AA09-43BA-A747-706397015D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3084514"/>
              </p:ext>
            </p:extLst>
          </p:nvPr>
        </p:nvGraphicFramePr>
        <p:xfrm>
          <a:off x="2129589" y="2103385"/>
          <a:ext cx="7932821" cy="4501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34252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246" y="199291"/>
            <a:ext cx="9356080" cy="675941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ĐỀ XUẤT ĐỔI NHÀ CUNG CẤP</a:t>
            </a:r>
            <a:endParaRPr lang="en-US" sz="28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6B400-047D-4AD3-9DA2-6E2B2C485BB1}"/>
              </a:ext>
            </a:extLst>
          </p:cNvPr>
          <p:cNvSpPr txBox="1"/>
          <p:nvPr/>
        </p:nvSpPr>
        <p:spPr>
          <a:xfrm>
            <a:off x="2086552" y="1029676"/>
            <a:ext cx="8272637" cy="1248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I085-Ngọc </a:t>
            </a:r>
            <a:r>
              <a:rPr lang="en-US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ờng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Ricoh Aficio MP7502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dứt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I085-Ngọc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sang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H870-LP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I220- Nam </a:t>
            </a:r>
            <a:r>
              <a:rPr lang="en-US" sz="16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Khánh</a:t>
            </a:r>
            <a:endParaRPr lang="en-US" sz="16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0110B5C-62ED-43D8-B38E-D4AC6BC297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429276"/>
              </p:ext>
            </p:extLst>
          </p:nvPr>
        </p:nvGraphicFramePr>
        <p:xfrm>
          <a:off x="2129589" y="2103385"/>
          <a:ext cx="7932821" cy="4501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8472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75624" y="2587082"/>
            <a:ext cx="82407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0417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E9727992A24479AC7469DEEDEA94C" ma:contentTypeVersion="18" ma:contentTypeDescription="Create a new document." ma:contentTypeScope="" ma:versionID="721a10a1097c614ad479fdfe2e59d1b8">
  <xsd:schema xmlns:xsd="http://www.w3.org/2001/XMLSchema" xmlns:xs="http://www.w3.org/2001/XMLSchema" xmlns:p="http://schemas.microsoft.com/office/2006/metadata/properties" xmlns:ns2="9d157257-a3bf-4ff5-a465-4e2defe95989" xmlns:ns3="5fe9d9f8-cc4e-4bb2-9b11-9758b481ddc1" targetNamespace="http://schemas.microsoft.com/office/2006/metadata/properties" ma:root="true" ma:fieldsID="c41339a64508fe7ea51c60068e684819" ns2:_="" ns3:_="">
    <xsd:import namespace="9d157257-a3bf-4ff5-a465-4e2defe95989"/>
    <xsd:import namespace="5fe9d9f8-cc4e-4bb2-9b11-9758b481d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57257-a3bf-4ff5-a465-4e2defe95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4cab4e9-b41f-4aee-96b1-c1b3b1261b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9f8-cc4e-4bb2-9b11-9758b481d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4bd9be1-660a-4bc7-baff-f2d1738c4dfe}" ma:internalName="TaxCatchAll" ma:showField="CatchAllData" ma:web="5fe9d9f8-cc4e-4bb2-9b11-9758b481d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157257-a3bf-4ff5-a465-4e2defe95989">
      <Terms xmlns="http://schemas.microsoft.com/office/infopath/2007/PartnerControls"/>
    </lcf76f155ced4ddcb4097134ff3c332f>
    <TaxCatchAll xmlns="5fe9d9f8-cc4e-4bb2-9b11-9758b481ddc1" xsi:nil="true"/>
  </documentManagement>
</p:properties>
</file>

<file path=customXml/itemProps1.xml><?xml version="1.0" encoding="utf-8"?>
<ds:datastoreItem xmlns:ds="http://schemas.openxmlformats.org/officeDocument/2006/customXml" ds:itemID="{A1DC0E3C-19E2-4B5E-9898-B48D91AF6EDB}"/>
</file>

<file path=customXml/itemProps2.xml><?xml version="1.0" encoding="utf-8"?>
<ds:datastoreItem xmlns:ds="http://schemas.openxmlformats.org/officeDocument/2006/customXml" ds:itemID="{87262552-66C1-4EF7-B57D-7BF967790D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607489-72D9-4287-BFC4-5761E659AC02}">
  <ds:schemaRefs>
    <ds:schemaRef ds:uri="5fe9d9f8-cc4e-4bb2-9b11-9758b481ddc1"/>
    <ds:schemaRef ds:uri="9d157257-a3bf-4ff5-a465-4e2defe95989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ĐỀ XUẤT THUÊ MÁY PHOTOCOPY  </vt:lpstr>
      <vt:lpstr>1.1 HIỆN TRẠNG/ 現狀</vt:lpstr>
      <vt:lpstr>1.2 HIỆN TRẠNG/現狀</vt:lpstr>
      <vt:lpstr>2.1 VẤN ĐỀ GẶP PHẢI/ 問題</vt:lpstr>
      <vt:lpstr>2.2 問題</vt:lpstr>
      <vt:lpstr>2.2 VẤN ĐỀ GẶP PHẢI</vt:lpstr>
      <vt:lpstr>3.1 ĐỀ XUẤT NÂNG CẤP MODEL/ 建議更換新的型號</vt:lpstr>
      <vt:lpstr>3.2 建議更換租賃廠商</vt:lpstr>
      <vt:lpstr>3.2 ĐỀ XUẤT ĐỔI NHÀ CUNG CẤP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DỰ KIẾN MÁY PHOTOCOPY X1</dc:title>
  <dc:creator>Famer</dc:creator>
  <cp:revision>1</cp:revision>
  <dcterms:created xsi:type="dcterms:W3CDTF">2020-11-03T01:37:43Z</dcterms:created>
  <dcterms:modified xsi:type="dcterms:W3CDTF">2025-11-21T08:16:21Z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0x01010003BE9727992A24479AC7469DEEDEA94C</vt:lpwstr>
  </property>
  <property fmtid="{D5CDD505-2E9C-101B-9397-08002B2CF9AE}" pid="3" name="MediaServiceImageTags">
    <vt:lpwstr/>
  </property>
</Properties>
</file>