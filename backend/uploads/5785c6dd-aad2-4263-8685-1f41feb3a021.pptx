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7" r:id="rId5"/>
    <p:sldId id="259" r:id="rId6"/>
    <p:sldId id="260" r:id="rId7"/>
    <p:sldId id="261" r:id="rId8"/>
    <p:sldId id="262" r:id="rId9"/>
    <p:sldId id="263" r:id="rId10"/>
    <p:sldId id="265" r:id="rId11"/>
    <p:sldId id="266" r:id="rId12"/>
    <p:sldId id="267" r:id="rId13"/>
    <p:sldId id="268" r:id="rId1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BF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104" d="100"/>
          <a:sy n="104" d="100"/>
        </p:scale>
        <p:origin x="126" y="48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11/4/2025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913" y="1236532"/>
            <a:ext cx="7772400" cy="693868"/>
          </a:xfrm>
        </p:spPr>
        <p:txBody>
          <a:bodyPr>
            <a:normAutofit fontScale="90000"/>
          </a:bodyPr>
          <a:lstStyle/>
          <a:p>
            <a:pPr marL="0" lvl="0" indent="0">
              <a:buNone/>
            </a:pPr>
            <a:r>
              <a:rPr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giải</a:t>
            </a: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pháp</a:t>
            </a: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truy</a:t>
            </a: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cập</a:t>
            </a: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từ</a:t>
            </a: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xa</a:t>
            </a:r>
            <a:r>
              <a:rPr b="1" dirty="0">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Zero Trust</a:t>
            </a:r>
            <a:endParaRPr b="1"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39227FA0-922C-936C-ECA2-063FBB07EF28}"/>
              </a:ext>
            </a:extLst>
          </p:cNvPr>
          <p:cNvSpPr txBox="1"/>
          <p:nvPr/>
        </p:nvSpPr>
        <p:spPr>
          <a:xfrm>
            <a:off x="-74148" y="2093960"/>
            <a:ext cx="9292296" cy="369332"/>
          </a:xfrm>
          <a:prstGeom prst="rect">
            <a:avLst/>
          </a:prstGeom>
          <a:noFill/>
        </p:spPr>
        <p:txBody>
          <a:bodyPr wrap="square">
            <a:spAutoFit/>
          </a:bodyPr>
          <a:lstStyle/>
          <a:p>
            <a:r>
              <a:rPr lang="zh-TW" alt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Nâng cao độ ổn định kết nối cho các cán bộ toàn cầu và tăng cường bảo mật cho hệ thống lõi.</a:t>
            </a:r>
            <a:endParaRPr lang="zh-TW" altLang="en-US" dirty="0">
              <a:latin typeface="Times New Roman" panose="02020603050405020304" pitchFamily="18" charset="0"/>
              <a:ea typeface="Microsoft JhengHei Light" panose="020B0304030504040204" pitchFamily="34" charset="-120"/>
              <a:cs typeface="Times New Roman" panose="02020603050405020304" pitchFamily="18" charset="0"/>
            </a:endParaRPr>
          </a:p>
        </p:txBody>
      </p:sp>
      <p:sp>
        <p:nvSpPr>
          <p:cNvPr id="6" name="文字方塊 5">
            <a:extLst>
              <a:ext uri="{FF2B5EF4-FFF2-40B4-BE49-F238E27FC236}">
                <a16:creationId xmlns:a16="http://schemas.microsoft.com/office/drawing/2014/main" id="{34E6EDD5-EC17-820A-7A90-0D75B7AB8929}"/>
              </a:ext>
            </a:extLst>
          </p:cNvPr>
          <p:cNvSpPr txBox="1"/>
          <p:nvPr/>
        </p:nvSpPr>
        <p:spPr>
          <a:xfrm>
            <a:off x="2188506" y="2801822"/>
            <a:ext cx="4489385" cy="369332"/>
          </a:xfrm>
          <a:prstGeom prst="rect">
            <a:avLst/>
          </a:prstGeom>
          <a:noFill/>
        </p:spPr>
        <p:txBody>
          <a:bodyPr wrap="square">
            <a:spAutoFit/>
          </a:bodyPr>
          <a:lstStyle/>
          <a:p>
            <a:r>
              <a:rPr lang="en-US" altLang="zh-TW" dirty="0" err="1">
                <a:latin typeface="Times New Roman" panose="02020603050405020304" pitchFamily="18" charset="0"/>
                <a:ea typeface="Microsoft JhengHei Light" panose="020B0304030504040204" pitchFamily="34" charset="-120"/>
                <a:cs typeface="Times New Roman" panose="02020603050405020304" pitchFamily="18" charset="0"/>
              </a:rPr>
              <a:t>Báo</a:t>
            </a:r>
            <a:r>
              <a:rPr lang="en-US" altLang="zh-TW"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altLang="zh-TW" dirty="0" err="1">
                <a:latin typeface="Times New Roman" panose="02020603050405020304" pitchFamily="18" charset="0"/>
                <a:ea typeface="Microsoft JhengHei Light" panose="020B0304030504040204" pitchFamily="34" charset="-120"/>
                <a:cs typeface="Times New Roman" panose="02020603050405020304" pitchFamily="18" charset="0"/>
              </a:rPr>
              <a:t>cáo</a:t>
            </a:r>
            <a:r>
              <a:rPr lang="en-US" altLang="zh-TW"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altLang="zh-TW" dirty="0" err="1">
                <a:latin typeface="Times New Roman" panose="02020603050405020304" pitchFamily="18" charset="0"/>
                <a:ea typeface="Microsoft JhengHei Light" panose="020B0304030504040204" pitchFamily="34" charset="-120"/>
                <a:cs typeface="Times New Roman" panose="02020603050405020304" pitchFamily="18" charset="0"/>
              </a:rPr>
              <a:t>khả</a:t>
            </a:r>
            <a:r>
              <a:rPr lang="en-US" altLang="zh-TW"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altLang="zh-TW" dirty="0" err="1">
                <a:latin typeface="Times New Roman" panose="02020603050405020304" pitchFamily="18" charset="0"/>
                <a:ea typeface="Microsoft JhengHei Light" panose="020B0304030504040204" pitchFamily="34" charset="-120"/>
                <a:cs typeface="Times New Roman" panose="02020603050405020304" pitchFamily="18" charset="0"/>
              </a:rPr>
              <a:t>năng</a:t>
            </a:r>
            <a:r>
              <a:rPr lang="en-US" altLang="zh-TW"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altLang="zh-TW" dirty="0" err="1">
                <a:latin typeface="Times New Roman" panose="02020603050405020304" pitchFamily="18" charset="0"/>
                <a:ea typeface="Microsoft JhengHei Light" panose="020B0304030504040204" pitchFamily="34" charset="-120"/>
                <a:cs typeface="Times New Roman" panose="02020603050405020304" pitchFamily="18" charset="0"/>
              </a:rPr>
              <a:t>triển</a:t>
            </a:r>
            <a:r>
              <a:rPr lang="en-US" altLang="zh-TW"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altLang="zh-TW" dirty="0" err="1">
                <a:latin typeface="Times New Roman" panose="02020603050405020304" pitchFamily="18" charset="0"/>
                <a:ea typeface="Microsoft JhengHei Light" panose="020B0304030504040204" pitchFamily="34" charset="-120"/>
                <a:cs typeface="Times New Roman" panose="02020603050405020304" pitchFamily="18" charset="0"/>
              </a:rPr>
              <a:t>khai</a:t>
            </a:r>
            <a:r>
              <a:rPr lang="en-US" altLang="zh-TW" dirty="0">
                <a:latin typeface="Times New Roman" panose="02020603050405020304" pitchFamily="18" charset="0"/>
                <a:ea typeface="Microsoft JhengHei Light" panose="020B0304030504040204" pitchFamily="34" charset="-120"/>
                <a:cs typeface="Times New Roman" panose="02020603050405020304" pitchFamily="18" charset="0"/>
              </a:rPr>
              <a:t> Cloudflare ZTNA</a:t>
            </a:r>
            <a:endParaRPr lang="zh-TW" altLang="en-US" dirty="0">
              <a:latin typeface="Times New Roman" panose="02020603050405020304" pitchFamily="18" charset="0"/>
              <a:ea typeface="Microsoft JhengHei Light" panose="020B0304030504040204" pitchFamily="34" charset="-12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0889" y="-134190"/>
            <a:ext cx="7817555" cy="799240"/>
          </a:xfrm>
        </p:spPr>
        <p:txBody>
          <a:bodyPr>
            <a:normAutofit/>
          </a:bodyPr>
          <a:lstStyle/>
          <a:p>
            <a:pPr marL="0" lvl="0" indent="0">
              <a:buNone/>
            </a:pPr>
            <a:r>
              <a:rPr sz="3200" b="1"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a:t>
            </a:r>
            <a:r>
              <a:rPr lang="en-US" sz="3200" dirty="0" err="1">
                <a:latin typeface="Times New Roman" panose="02020603050405020304" pitchFamily="18" charset="0"/>
                <a:cs typeface="Times New Roman" panose="02020603050405020304" pitchFamily="18" charset="0"/>
              </a:rPr>
              <a:t>ổng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quan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thực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hiện</a:t>
            </a:r>
            <a:r>
              <a:rPr sz="3200" b="1"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(Executive Summary)</a:t>
            </a:r>
            <a:endParaRPr sz="32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sz="half" idx="2"/>
          </p:nvPr>
        </p:nvSpPr>
        <p:spPr>
          <a:xfrm>
            <a:off x="620889" y="780214"/>
            <a:ext cx="7902221" cy="719981"/>
          </a:xfrm>
        </p:spPr>
        <p:txBody>
          <a:bodyPr>
            <a:normAutofit fontScale="92500" lnSpcReduction="20000"/>
          </a:bodyPr>
          <a:lstStyle/>
          <a:p>
            <a:pPr marL="0" lvl="0" indent="0">
              <a:lnSpc>
                <a:spcPct val="120000"/>
              </a:lnSpc>
              <a:buNone/>
            </a:pPr>
            <a:r>
              <a:rPr lang="en-US" sz="1400" b="1" dirty="0" err="1">
                <a:latin typeface="Times New Roman" panose="02020603050405020304" pitchFamily="18" charset="0"/>
                <a:cs typeface="Times New Roman" panose="02020603050405020304" pitchFamily="18" charset="0"/>
              </a:rPr>
              <a:t>Mục</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tiêu</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cốt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lõi</a:t>
            </a:r>
            <a:r>
              <a:rPr sz="1400" b="1" dirty="0">
                <a:latin typeface="Times New Roman" panose="02020603050405020304" pitchFamily="18" charset="0"/>
                <a:cs typeface="Times New Roman" panose="02020603050405020304" pitchFamily="18" charset="0"/>
              </a:rPr>
              <a:t>：</a:t>
            </a:r>
            <a:r>
              <a:rPr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thông</a:t>
            </a:r>
            <a:r>
              <a:rPr lang="en-US" sz="1400" dirty="0">
                <a:latin typeface="Times New Roman" panose="02020603050405020304" pitchFamily="18" charset="0"/>
                <a:cs typeface="Times New Roman" panose="02020603050405020304" pitchFamily="18" charset="0"/>
              </a:rPr>
              <a:t> qua </a:t>
            </a:r>
            <a:r>
              <a:rPr lang="en-US" sz="1400" dirty="0" err="1">
                <a:latin typeface="Times New Roman" panose="02020603050405020304" pitchFamily="18" charset="0"/>
                <a:cs typeface="Times New Roman" panose="02020603050405020304" pitchFamily="18" charset="0"/>
              </a:rPr>
              <a:t>cấu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trúc</a:t>
            </a:r>
            <a:r>
              <a:rPr lang="en-US" sz="140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Cloudflare Zero Trust </a:t>
            </a:r>
            <a:r>
              <a:rPr lang="en-US" sz="1400"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triệt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để</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giải</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quyết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vấn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đề</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gián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đoạn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và</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giảm</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hiệu</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suất</a:t>
            </a:r>
            <a:r>
              <a:rPr lang="en-US" sz="1400" b="1" dirty="0">
                <a:latin typeface="Times New Roman" panose="02020603050405020304" pitchFamily="18" charset="0"/>
                <a:cs typeface="Times New Roman" panose="02020603050405020304" pitchFamily="18" charset="0"/>
              </a:rPr>
              <a:t> do </a:t>
            </a:r>
            <a:r>
              <a:rPr lang="en-US" sz="1400" b="1" dirty="0" err="1">
                <a:latin typeface="Times New Roman" panose="02020603050405020304" pitchFamily="18" charset="0"/>
                <a:cs typeface="Times New Roman" panose="02020603050405020304" pitchFamily="18" charset="0"/>
              </a:rPr>
              <a:t>kết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nối</a:t>
            </a:r>
            <a:r>
              <a:rPr lang="en-US" sz="1400" b="1" dirty="0">
                <a:latin typeface="Times New Roman" panose="02020603050405020304" pitchFamily="18" charset="0"/>
                <a:cs typeface="Times New Roman" panose="02020603050405020304" pitchFamily="18" charset="0"/>
              </a:rPr>
              <a:t> VPN </a:t>
            </a:r>
            <a:r>
              <a:rPr lang="en-US" sz="1400" b="1" dirty="0" err="1">
                <a:latin typeface="Times New Roman" panose="02020603050405020304" pitchFamily="18" charset="0"/>
                <a:cs typeface="Times New Roman" panose="02020603050405020304" pitchFamily="18" charset="0"/>
              </a:rPr>
              <a:t>không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ổn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định</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mà</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các</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cán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bộ</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người</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Đài</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gặp</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phải</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khi</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truy</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cập</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hệ</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thống</a:t>
            </a:r>
            <a:r>
              <a:rPr lang="en-US" sz="1400" b="1" dirty="0">
                <a:latin typeface="Times New Roman" panose="02020603050405020304" pitchFamily="18" charset="0"/>
                <a:cs typeface="Times New Roman" panose="02020603050405020304" pitchFamily="18" charset="0"/>
              </a:rPr>
              <a:t> EIP/ERP/PLM </a:t>
            </a:r>
            <a:r>
              <a:rPr lang="en-US" sz="1400" b="1" dirty="0" err="1">
                <a:latin typeface="Times New Roman" panose="02020603050405020304" pitchFamily="18" charset="0"/>
                <a:cs typeface="Times New Roman" panose="02020603050405020304" pitchFamily="18" charset="0"/>
              </a:rPr>
              <a:t>của</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công</a:t>
            </a:r>
            <a:r>
              <a:rPr lang="en-US" sz="1400" b="1" dirty="0">
                <a:latin typeface="Times New Roman" panose="02020603050405020304" pitchFamily="18" charset="0"/>
                <a:cs typeface="Times New Roman" panose="02020603050405020304" pitchFamily="18" charset="0"/>
              </a:rPr>
              <a:t> ty ở </a:t>
            </a:r>
            <a:r>
              <a:rPr lang="en-US" sz="1400" b="1" dirty="0" err="1">
                <a:latin typeface="Times New Roman" panose="02020603050405020304" pitchFamily="18" charset="0"/>
                <a:cs typeface="Times New Roman" panose="02020603050405020304" pitchFamily="18" charset="0"/>
              </a:rPr>
              <a:t>nước</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ngoài</a:t>
            </a:r>
            <a:endParaRPr sz="1400" b="1" dirty="0">
              <a:latin typeface="Times New Roman" panose="02020603050405020304" pitchFamily="18" charset="0"/>
              <a:cs typeface="Times New Roman" panose="02020603050405020304" pitchFamily="18"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580015698"/>
              </p:ext>
            </p:extLst>
          </p:nvPr>
        </p:nvGraphicFramePr>
        <p:xfrm>
          <a:off x="784578" y="1615359"/>
          <a:ext cx="7574844" cy="3387712"/>
        </p:xfrm>
        <a:graphic>
          <a:graphicData uri="http://schemas.openxmlformats.org/drawingml/2006/table">
            <a:tbl>
              <a:tblPr firstRow="1" bandRow="1">
                <a:tableStyleId>{5C22544A-7EE6-4342-B048-85BDC9FD1C3A}</a:tableStyleId>
              </a:tblPr>
              <a:tblGrid>
                <a:gridCol w="1820077">
                  <a:extLst>
                    <a:ext uri="{9D8B030D-6E8A-4147-A177-3AD203B41FA5}">
                      <a16:colId xmlns:a16="http://schemas.microsoft.com/office/drawing/2014/main" val="20000"/>
                    </a:ext>
                  </a:extLst>
                </a:gridCol>
                <a:gridCol w="2836589">
                  <a:extLst>
                    <a:ext uri="{9D8B030D-6E8A-4147-A177-3AD203B41FA5}">
                      <a16:colId xmlns:a16="http://schemas.microsoft.com/office/drawing/2014/main" val="20001"/>
                    </a:ext>
                  </a:extLst>
                </a:gridCol>
                <a:gridCol w="2918178">
                  <a:extLst>
                    <a:ext uri="{9D8B030D-6E8A-4147-A177-3AD203B41FA5}">
                      <a16:colId xmlns:a16="http://schemas.microsoft.com/office/drawing/2014/main" val="20002"/>
                    </a:ext>
                  </a:extLst>
                </a:gridCol>
              </a:tblGrid>
              <a:tr h="479247">
                <a:tc>
                  <a:txBody>
                    <a:bodyPr/>
                    <a:lstStyle/>
                    <a:p>
                      <a:pPr marL="0" lvl="0" indent="0" algn="l">
                        <a:buNone/>
                      </a:pPr>
                      <a:r>
                        <a:rPr lang="en-US" sz="1600" dirty="0" err="1">
                          <a:latin typeface="Times New Roman" panose="02020603050405020304" pitchFamily="18" charset="0"/>
                          <a:cs typeface="Times New Roman" panose="02020603050405020304" pitchFamily="18" charset="0"/>
                        </a:rPr>
                        <a:t>Thách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thức</a:t>
                      </a:r>
                      <a:r>
                        <a:rPr sz="1600" dirty="0">
                          <a:latin typeface="Times New Roman" panose="02020603050405020304" pitchFamily="18" charset="0"/>
                          <a:cs typeface="Times New Roman" panose="02020603050405020304" pitchFamily="18" charset="0"/>
                        </a:rPr>
                        <a:t> (Challenge)</a:t>
                      </a:r>
                    </a:p>
                  </a:txBody>
                  <a:tcPr/>
                </a:tc>
                <a:tc>
                  <a:txBody>
                    <a:bodyPr/>
                    <a:lstStyle/>
                    <a:p>
                      <a:pPr marL="0" lvl="0" indent="0" algn="l">
                        <a:buNone/>
                      </a:pPr>
                      <a:r>
                        <a:rPr lang="en-US" sz="1600" dirty="0" err="1">
                          <a:latin typeface="Times New Roman" panose="02020603050405020304" pitchFamily="18" charset="0"/>
                          <a:cs typeface="Times New Roman" panose="02020603050405020304" pitchFamily="18" charset="0"/>
                        </a:rPr>
                        <a:t>Giải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pháp</a:t>
                      </a:r>
                      <a:r>
                        <a:rPr sz="1600" dirty="0">
                          <a:latin typeface="Times New Roman" panose="02020603050405020304" pitchFamily="18" charset="0"/>
                          <a:cs typeface="Times New Roman" panose="02020603050405020304" pitchFamily="18" charset="0"/>
                        </a:rPr>
                        <a:t> (Solution)</a:t>
                      </a:r>
                    </a:p>
                  </a:txBody>
                  <a:tcPr/>
                </a:tc>
                <a:tc>
                  <a:txBody>
                    <a:bodyPr/>
                    <a:lstStyle/>
                    <a:p>
                      <a:pPr marL="0" lvl="0" indent="0" algn="l">
                        <a:buNone/>
                      </a:pPr>
                      <a:r>
                        <a:rPr lang="en-US" sz="1600" dirty="0" err="1">
                          <a:latin typeface="Times New Roman" panose="02020603050405020304" pitchFamily="18" charset="0"/>
                          <a:cs typeface="Times New Roman" panose="02020603050405020304" pitchFamily="18" charset="0"/>
                        </a:rPr>
                        <a:t>Giá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doanh</a:t>
                      </a:r>
                      <a:r>
                        <a:rPr sz="1600" dirty="0">
                          <a:latin typeface="Times New Roman" panose="02020603050405020304" pitchFamily="18" charset="0"/>
                          <a:cs typeface="Times New Roman" panose="02020603050405020304" pitchFamily="18" charset="0"/>
                        </a:rPr>
                        <a:t> (Business Value)</a:t>
                      </a:r>
                    </a:p>
                  </a:txBody>
                  <a:tcPr/>
                </a:tc>
                <a:extLst>
                  <a:ext uri="{0D108BD9-81ED-4DB2-BD59-A6C34878D82A}">
                    <a16:rowId xmlns:a16="http://schemas.microsoft.com/office/drawing/2014/main" val="10000"/>
                  </a:ext>
                </a:extLst>
              </a:tr>
              <a:tr h="774052">
                <a:tc>
                  <a:txBody>
                    <a:bodyPr/>
                    <a:lstStyle/>
                    <a:p>
                      <a:pPr marL="0" lvl="0" indent="0" algn="l">
                        <a:buNone/>
                      </a:pPr>
                      <a:r>
                        <a:rPr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Kết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nối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xuyên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quốc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gia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không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ổn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định</a:t>
                      </a:r>
                      <a:endParaRPr b="1" dirty="0">
                        <a:latin typeface="Times New Roman" panose="02020603050405020304" pitchFamily="18" charset="0"/>
                        <a:cs typeface="Times New Roman" panose="02020603050405020304" pitchFamily="18" charset="0"/>
                      </a:endParaRPr>
                    </a:p>
                  </a:txBody>
                  <a:tcPr/>
                </a:tc>
                <a:tc>
                  <a:txBody>
                    <a:bodyPr/>
                    <a:lstStyle/>
                    <a:p>
                      <a:pPr marL="0" lvl="0" indent="0" algn="l">
                        <a:buNone/>
                      </a:pP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khai</a:t>
                      </a:r>
                      <a:r>
                        <a:rPr lang="en-US" dirty="0">
                          <a:latin typeface="Times New Roman" panose="02020603050405020304" pitchFamily="18" charset="0"/>
                          <a:cs typeface="Times New Roman" panose="02020603050405020304" pitchFamily="18" charset="0"/>
                        </a:rPr>
                        <a:t> Cloudflare WARP </a:t>
                      </a:r>
                      <a:r>
                        <a:rPr lang="en-US" dirty="0" err="1">
                          <a:latin typeface="Times New Roman" panose="02020603050405020304" pitchFamily="18" charset="0"/>
                          <a:cs typeface="Times New Roman" panose="02020603050405020304" pitchFamily="18" charset="0"/>
                        </a:rPr>
                        <a:t>làm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ổn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giúp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chặn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bởi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thức</a:t>
                      </a:r>
                      <a:r>
                        <a:rPr lang="en-US" dirty="0">
                          <a:latin typeface="Times New Roman" panose="02020603050405020304" pitchFamily="18" charset="0"/>
                          <a:cs typeface="Times New Roman" panose="02020603050405020304" pitchFamily="18" charset="0"/>
                        </a:rPr>
                        <a:t> VPN </a:t>
                      </a:r>
                      <a:r>
                        <a:rPr lang="en-US" dirty="0" err="1">
                          <a:latin typeface="Times New Roman" panose="02020603050405020304" pitchFamily="18" charset="0"/>
                          <a:cs typeface="Times New Roman" panose="02020603050405020304" pitchFamily="18" charset="0"/>
                        </a:rPr>
                        <a:t>truyền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endParaRPr dirty="0">
                        <a:latin typeface="Times New Roman" panose="02020603050405020304" pitchFamily="18" charset="0"/>
                        <a:cs typeface="Times New Roman" panose="02020603050405020304" pitchFamily="18" charset="0"/>
                      </a:endParaRPr>
                    </a:p>
                  </a:txBody>
                  <a:tcPr/>
                </a:tc>
                <a:tc>
                  <a:txBody>
                    <a:bodyPr/>
                    <a:lstStyle/>
                    <a:p>
                      <a:pPr marL="0" lvl="0" indent="0" algn="l">
                        <a:buNone/>
                      </a:pPr>
                      <a:r>
                        <a:rPr lang="en-US" b="1" dirty="0" err="1">
                          <a:latin typeface="Times New Roman" panose="02020603050405020304" pitchFamily="18" charset="0"/>
                          <a:cs typeface="Times New Roman" panose="02020603050405020304" pitchFamily="18" charset="0"/>
                        </a:rPr>
                        <a:t>Nâng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cao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hiệu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suất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công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việc</a:t>
                      </a:r>
                      <a:r>
                        <a:rPr dirty="0" err="1">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đảm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ổn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hệ</a:t>
                      </a:r>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thống</a:t>
                      </a:r>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lõi</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ở </a:t>
                      </a:r>
                      <a:r>
                        <a:rPr lang="en-US" altLang="zh-TW" dirty="0" err="1">
                          <a:latin typeface="Times New Roman" panose="02020603050405020304" pitchFamily="18" charset="0"/>
                          <a:cs typeface="Times New Roman" panose="02020603050405020304" pitchFamily="18" charset="0"/>
                        </a:rPr>
                        <a:t>bất</a:t>
                      </a:r>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kỳ</a:t>
                      </a:r>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đâu</a:t>
                      </a:r>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trên</a:t>
                      </a:r>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thế</a:t>
                      </a:r>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giới</a:t>
                      </a:r>
                      <a:endParaRP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774052">
                <a:tc>
                  <a:txBody>
                    <a:bodyPr/>
                    <a:lstStyle/>
                    <a:p>
                      <a:pPr marL="0" lvl="0" indent="0" algn="l">
                        <a:buNone/>
                      </a:pPr>
                      <a:r>
                        <a:rPr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Rủi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ro</a:t>
                      </a:r>
                      <a:r>
                        <a:rPr lang="en-US" b="1" dirty="0">
                          <a:latin typeface="Times New Roman" panose="02020603050405020304" pitchFamily="18" charset="0"/>
                          <a:cs typeface="Times New Roman" panose="02020603050405020304" pitchFamily="18" charset="0"/>
                        </a:rPr>
                        <a:t> an </a:t>
                      </a:r>
                      <a:r>
                        <a:rPr lang="en-US" b="1" dirty="0" err="1">
                          <a:latin typeface="Times New Roman" panose="02020603050405020304" pitchFamily="18" charset="0"/>
                          <a:cs typeface="Times New Roman" panose="02020603050405020304" pitchFamily="18" charset="0"/>
                        </a:rPr>
                        <a:t>toàn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cao</a:t>
                      </a:r>
                      <a:endParaRPr b="1" dirty="0">
                        <a:latin typeface="Times New Roman" panose="02020603050405020304" pitchFamily="18" charset="0"/>
                        <a:cs typeface="Times New Roman" panose="02020603050405020304" pitchFamily="18" charset="0"/>
                      </a:endParaRPr>
                    </a:p>
                  </a:txBody>
                  <a:tcPr/>
                </a:tc>
                <a:tc>
                  <a:txBody>
                    <a:bodyPr/>
                    <a:lstStyle/>
                    <a:p>
                      <a:pPr marL="0" lvl="0" indent="0" algn="l">
                        <a:buNone/>
                      </a:pPr>
                      <a:r>
                        <a:rPr lang="vi-VN" dirty="0">
                          <a:latin typeface="Times New Roman" panose="02020603050405020304" pitchFamily="18" charset="0"/>
                          <a:cs typeface="Times New Roman" panose="02020603050405020304" pitchFamily="18" charset="0"/>
                        </a:rPr>
                        <a:t>Loại bỏ mô hình VPN truyền thống đưa người dùng trực tiếp vào mạng nội bộ</a:t>
                      </a:r>
                      <a:endParaRPr dirty="0">
                        <a:latin typeface="Times New Roman" panose="02020603050405020304" pitchFamily="18" charset="0"/>
                        <a:cs typeface="Times New Roman" panose="02020603050405020304" pitchFamily="18" charset="0"/>
                      </a:endParaRPr>
                    </a:p>
                  </a:txBody>
                  <a:tcPr/>
                </a:tc>
                <a:tc>
                  <a:txBody>
                    <a:bodyPr/>
                    <a:lstStyle/>
                    <a:p>
                      <a:pPr marL="0" lvl="0" indent="0" algn="l">
                        <a:buNone/>
                      </a:pPr>
                      <a:r>
                        <a:rPr lang="en-US" b="1" dirty="0" err="1">
                          <a:latin typeface="Times New Roman" panose="02020603050405020304" pitchFamily="18" charset="0"/>
                          <a:cs typeface="Times New Roman" panose="02020603050405020304" pitchFamily="18" charset="0"/>
                        </a:rPr>
                        <a:t>Tăng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cường</a:t>
                      </a:r>
                      <a:r>
                        <a:rPr lang="en-US" b="1" dirty="0">
                          <a:latin typeface="Times New Roman" panose="02020603050405020304" pitchFamily="18" charset="0"/>
                          <a:cs typeface="Times New Roman" panose="02020603050405020304" pitchFamily="18" charset="0"/>
                        </a:rPr>
                        <a:t> an </a:t>
                      </a:r>
                      <a:r>
                        <a:rPr lang="en-US" b="1" dirty="0" err="1">
                          <a:latin typeface="Times New Roman" panose="02020603050405020304" pitchFamily="18" charset="0"/>
                          <a:cs typeface="Times New Roman" panose="02020603050405020304" pitchFamily="18" charset="0"/>
                        </a:rPr>
                        <a:t>ninh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doanh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nghiệp</a:t>
                      </a:r>
                      <a:r>
                        <a:rPr dirty="0">
                          <a:latin typeface="Times New Roman" panose="02020603050405020304" pitchFamily="18" charset="0"/>
                          <a:cs typeface="Times New Roman" panose="02020603050405020304" pitchFamily="18" charset="0"/>
                        </a:rPr>
                        <a:t>：</a:t>
                      </a:r>
                      <a:r>
                        <a:rPr lang="vi-VN" dirty="0">
                          <a:latin typeface="Times New Roman" panose="02020603050405020304" pitchFamily="18" charset="0"/>
                          <a:cs typeface="Times New Roman" panose="02020603050405020304" pitchFamily="18" charset="0"/>
                        </a:rPr>
                        <a:t>Thực hiện nguyên tắc “Không bao giờ tin tưởng, luôn luôn xác thực”, giảm thiểu rủi ro an toàn thông tin ở mức thấp nhất.</a:t>
                      </a:r>
                      <a:endParaRP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774052">
                <a:tc>
                  <a:txBody>
                    <a:bodyPr/>
                    <a:lstStyle/>
                    <a:p>
                      <a:pPr marL="0" lvl="0" indent="0" algn="l">
                        <a:buNone/>
                      </a:pPr>
                      <a:r>
                        <a:rPr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Mức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độ</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truy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cập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phức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tạp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cao</a:t>
                      </a:r>
                      <a:endParaRPr b="1" dirty="0">
                        <a:latin typeface="Times New Roman" panose="02020603050405020304" pitchFamily="18" charset="0"/>
                        <a:cs typeface="Times New Roman" panose="02020603050405020304" pitchFamily="18" charset="0"/>
                      </a:endParaRPr>
                    </a:p>
                  </a:txBody>
                  <a:tcPr/>
                </a:tc>
                <a:tc>
                  <a:txBody>
                    <a:bodyPr/>
                    <a:lstStyle/>
                    <a:p>
                      <a:pPr marL="0" lvl="0" indent="0" algn="l">
                        <a:buNone/>
                      </a:pPr>
                      <a:r>
                        <a:rPr lang="en-US" dirty="0" err="1">
                          <a:latin typeface="Times New Roman" panose="02020603050405020304" pitchFamily="18" charset="0"/>
                          <a:cs typeface="Times New Roman" panose="02020603050405020304" pitchFamily="18" charset="0"/>
                        </a:rPr>
                        <a:t>Cần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nối</a:t>
                      </a:r>
                      <a:r>
                        <a:rPr lang="en-US" dirty="0">
                          <a:latin typeface="Times New Roman" panose="02020603050405020304" pitchFamily="18" charset="0"/>
                          <a:cs typeface="Times New Roman" panose="02020603050405020304" pitchFamily="18" charset="0"/>
                        </a:rPr>
                        <a:t> VPN </a:t>
                      </a:r>
                      <a:r>
                        <a:rPr lang="en-US" dirty="0" err="1">
                          <a:latin typeface="Times New Roman" panose="02020603050405020304" pitchFamily="18" charset="0"/>
                          <a:cs typeface="Times New Roman" panose="02020603050405020304" pitchFamily="18" charset="0"/>
                        </a:rPr>
                        <a:t>mới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cập</a:t>
                      </a:r>
                      <a:endParaRPr dirty="0">
                        <a:latin typeface="Times New Roman" panose="02020603050405020304" pitchFamily="18" charset="0"/>
                        <a:cs typeface="Times New Roman" panose="02020603050405020304" pitchFamily="18" charset="0"/>
                      </a:endParaRPr>
                    </a:p>
                  </a:txBody>
                  <a:tcPr/>
                </a:tc>
                <a:tc>
                  <a:txBody>
                    <a:bodyPr/>
                    <a:lstStyle/>
                    <a:p>
                      <a:pPr marL="0" lvl="0" indent="0" algn="l">
                        <a:buNone/>
                      </a:pPr>
                      <a:r>
                        <a:rPr lang="en-US" b="1" dirty="0" err="1">
                          <a:latin typeface="Times New Roman" panose="02020603050405020304" pitchFamily="18" charset="0"/>
                          <a:cs typeface="Times New Roman" panose="02020603050405020304" pitchFamily="18" charset="0"/>
                        </a:rPr>
                        <a:t>Triển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khai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với</a:t>
                      </a:r>
                      <a:r>
                        <a:rPr lang="en-US" b="1" dirty="0">
                          <a:latin typeface="Times New Roman" panose="02020603050405020304" pitchFamily="18" charset="0"/>
                          <a:cs typeface="Times New Roman" panose="02020603050405020304" pitchFamily="18" charset="0"/>
                        </a:rPr>
                        <a:t> chi </a:t>
                      </a:r>
                      <a:r>
                        <a:rPr lang="en-US" b="1" dirty="0" err="1">
                          <a:latin typeface="Times New Roman" panose="02020603050405020304" pitchFamily="18" charset="0"/>
                          <a:cs typeface="Times New Roman" panose="02020603050405020304" pitchFamily="18" charset="0"/>
                        </a:rPr>
                        <a:t>phí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bằng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không</a:t>
                      </a:r>
                      <a:r>
                        <a:rPr lang="en-US" b="1" dirty="0">
                          <a:latin typeface="Times New Roman" panose="02020603050405020304" pitchFamily="18" charset="0"/>
                          <a:cs typeface="Times New Roman" panose="02020603050405020304" pitchFamily="18" charset="0"/>
                        </a:rPr>
                        <a:t> (PoC): </a:t>
                      </a:r>
                      <a:r>
                        <a:rPr lang="en-US" b="0" dirty="0" err="1">
                          <a:latin typeface="Times New Roman" panose="02020603050405020304" pitchFamily="18" charset="0"/>
                          <a:cs typeface="Times New Roman" panose="02020603050405020304" pitchFamily="18" charset="0"/>
                        </a:rPr>
                        <a:t>Thực</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hiện</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kiểm</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chứng</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khái</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niệm</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bằng</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gói</a:t>
                      </a:r>
                      <a:r>
                        <a:rPr lang="en-US" b="0" dirty="0">
                          <a:latin typeface="Times New Roman" panose="02020603050405020304" pitchFamily="18" charset="0"/>
                          <a:cs typeface="Times New Roman" panose="02020603050405020304" pitchFamily="18" charset="0"/>
                        </a:rPr>
                        <a:t> Cloudflare Free Plan.</a:t>
                      </a:r>
                      <a:endParaRPr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686800" cy="857250"/>
          </a:xfrm>
        </p:spPr>
        <p:txBody>
          <a:bodyPr>
            <a:noAutofit/>
          </a:bodyPr>
          <a:lstStyle/>
          <a:p>
            <a:pPr marL="0" lvl="0" indent="0" algn="l">
              <a:buNone/>
            </a:pPr>
            <a:r>
              <a:rPr sz="3200" b="1" dirty="0">
                <a:latin typeface="Times New Roman" panose="02020603050405020304" pitchFamily="18" charset="0"/>
                <a:cs typeface="Times New Roman" panose="02020603050405020304" pitchFamily="18" charset="0"/>
              </a:rPr>
              <a:t>3</a:t>
            </a:r>
            <a:r>
              <a:rPr lang="en-US" sz="3200" b="1" dirty="0">
                <a:latin typeface="Times New Roman" panose="02020603050405020304" pitchFamily="18" charset="0"/>
                <a:cs typeface="Times New Roman" panose="02020603050405020304" pitchFamily="18" charset="0"/>
              </a:rPr>
              <a:t>.Phân </a:t>
            </a:r>
            <a:r>
              <a:rPr lang="en-US" sz="3200" b="1" dirty="0" err="1">
                <a:latin typeface="Times New Roman" panose="02020603050405020304" pitchFamily="18" charset="0"/>
                <a:cs typeface="Times New Roman" panose="02020603050405020304" pitchFamily="18" charset="0"/>
              </a:rPr>
              <a:t>tích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hiện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trạng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và</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những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điểm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khó</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khăn</a:t>
            </a:r>
            <a:r>
              <a:rPr sz="3200" b="1"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(Problem Statement &amp; Pain Points)</a:t>
            </a:r>
            <a:endParaRPr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lvl="0"/>
            <a:r>
              <a:rPr lang="en-US" sz="1600" b="1" dirty="0" err="1">
                <a:latin typeface="Times New Roman" panose="02020603050405020304" pitchFamily="18" charset="0"/>
                <a:cs typeface="Times New Roman" panose="02020603050405020304" pitchFamily="18" charset="0"/>
              </a:rPr>
              <a:t>Cấu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trúc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hiện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có</a:t>
            </a:r>
            <a:r>
              <a:rPr sz="1600" b="1" dirty="0">
                <a:latin typeface="Times New Roman" panose="02020603050405020304" pitchFamily="18" charset="0"/>
                <a:cs typeface="Times New Roman" panose="02020603050405020304" pitchFamily="18" charset="0"/>
              </a:rPr>
              <a:t>：</a:t>
            </a:r>
            <a:r>
              <a:rPr sz="1600" dirty="0">
                <a:latin typeface="Times New Roman" panose="02020603050405020304" pitchFamily="18" charset="0"/>
                <a:cs typeface="Times New Roman" panose="02020603050405020304" pitchFamily="18" charset="0"/>
              </a:rPr>
              <a:t> VPN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truyền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thống</a:t>
            </a:r>
            <a:r>
              <a:rPr sz="1600" dirty="0">
                <a:latin typeface="Times New Roman" panose="02020603050405020304" pitchFamily="18" charset="0"/>
                <a:cs typeface="Times New Roman" panose="02020603050405020304" pitchFamily="18" charset="0"/>
              </a:rPr>
              <a:t> (Virtual Private Network)</a:t>
            </a:r>
            <a:br>
              <a:rPr sz="1600" dirty="0">
                <a:latin typeface="Times New Roman" panose="02020603050405020304" pitchFamily="18" charset="0"/>
                <a:cs typeface="Times New Roman" panose="02020603050405020304" pitchFamily="18" charset="0"/>
              </a:rPr>
            </a:br>
            <a:endParaRPr sz="1600" dirty="0">
              <a:latin typeface="Times New Roman" panose="02020603050405020304" pitchFamily="18" charset="0"/>
              <a:cs typeface="Times New Roman" panose="02020603050405020304" pitchFamily="18" charset="0"/>
            </a:endParaRPr>
          </a:p>
          <a:p>
            <a:pPr lvl="0"/>
            <a:r>
              <a:rPr lang="en-US" sz="1600" b="1" dirty="0" err="1">
                <a:latin typeface="Times New Roman" panose="02020603050405020304" pitchFamily="18" charset="0"/>
                <a:cs typeface="Times New Roman" panose="02020603050405020304" pitchFamily="18" charset="0"/>
              </a:rPr>
              <a:t>Khó</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khăn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thứ</a:t>
            </a:r>
            <a:r>
              <a:rPr lang="en-US" sz="1600" b="1" dirty="0">
                <a:latin typeface="Times New Roman" panose="02020603050405020304" pitchFamily="18" charset="0"/>
                <a:cs typeface="Times New Roman" panose="02020603050405020304" pitchFamily="18" charset="0"/>
              </a:rPr>
              <a:t> 1</a:t>
            </a:r>
            <a:r>
              <a:rPr sz="1600" b="1"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Độ tin </a:t>
            </a:r>
            <a:r>
              <a:rPr lang="en-US" sz="1600" b="1" dirty="0" err="1">
                <a:latin typeface="Times New Roman" panose="02020603050405020304" pitchFamily="18" charset="0"/>
                <a:cs typeface="Times New Roman" panose="02020603050405020304" pitchFamily="18" charset="0"/>
              </a:rPr>
              <a:t>cậy</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kết</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nối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kém</a:t>
            </a:r>
            <a:r>
              <a:rPr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vấn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đề</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trọng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yếu</a:t>
            </a:r>
            <a:r>
              <a:rPr sz="1600" b="1" dirty="0">
                <a:latin typeface="Times New Roman" panose="02020603050405020304" pitchFamily="18" charset="0"/>
                <a:cs typeface="Times New Roman" panose="02020603050405020304" pitchFamily="18" charset="0"/>
              </a:rPr>
              <a:t>)</a:t>
            </a:r>
          </a:p>
          <a:p>
            <a:pPr lvl="1"/>
            <a:r>
              <a:rPr lang="en-US" sz="1400" dirty="0">
                <a:latin typeface="Times New Roman" panose="02020603050405020304" pitchFamily="18" charset="0"/>
                <a:cs typeface="Times New Roman" panose="02020603050405020304" pitchFamily="18" charset="0"/>
              </a:rPr>
              <a:t>Giao </a:t>
            </a:r>
            <a:r>
              <a:rPr lang="en-US" sz="1400" dirty="0" err="1">
                <a:latin typeface="Times New Roman" panose="02020603050405020304" pitchFamily="18" charset="0"/>
                <a:cs typeface="Times New Roman" panose="02020603050405020304" pitchFamily="18" charset="0"/>
              </a:rPr>
              <a:t>thức</a:t>
            </a:r>
            <a:r>
              <a:rPr lang="en-US" sz="140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VPN </a:t>
            </a:r>
            <a:r>
              <a:rPr lang="en-US" sz="1400" dirty="0" err="1">
                <a:latin typeface="Times New Roman" panose="02020603050405020304" pitchFamily="18" charset="0"/>
                <a:cs typeface="Times New Roman" panose="02020603050405020304" pitchFamily="18" charset="0"/>
              </a:rPr>
              <a:t>dễ</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tường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lửa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phát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hiện</a:t>
            </a:r>
            <a:r>
              <a:rPr lang="en-US" sz="1400"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chặn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giới</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hạn</a:t>
            </a:r>
            <a:r>
              <a:rPr lang="en-US" sz="1400" b="1"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tốc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độ</a:t>
            </a:r>
            <a:r>
              <a:rPr lang="en-US" sz="1400" dirty="0">
                <a:latin typeface="Times New Roman" panose="02020603050405020304" pitchFamily="18" charset="0"/>
                <a:cs typeface="Times New Roman" panose="02020603050405020304" pitchFamily="18" charset="0"/>
              </a:rPr>
              <a:t> ở </a:t>
            </a:r>
            <a:r>
              <a:rPr lang="en-US" sz="1400" dirty="0" err="1">
                <a:latin typeface="Times New Roman" panose="02020603050405020304" pitchFamily="18" charset="0"/>
                <a:cs typeface="Times New Roman" panose="02020603050405020304" pitchFamily="18" charset="0"/>
              </a:rPr>
              <a:t>một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số</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quốc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gia</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khu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vực</a:t>
            </a:r>
            <a:endParaRPr sz="1400" dirty="0">
              <a:latin typeface="Times New Roman" panose="02020603050405020304" pitchFamily="18" charset="0"/>
              <a:cs typeface="Times New Roman" panose="02020603050405020304" pitchFamily="18" charset="0"/>
            </a:endParaRPr>
          </a:p>
          <a:p>
            <a:pPr lvl="1"/>
            <a:r>
              <a:rPr lang="en-US" sz="1400" dirty="0" err="1">
                <a:latin typeface="Times New Roman" panose="02020603050405020304" pitchFamily="18" charset="0"/>
                <a:cs typeface="Times New Roman" panose="02020603050405020304" pitchFamily="18" charset="0"/>
              </a:rPr>
              <a:t>Điều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này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khiến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cán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bộ</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Đài</a:t>
            </a:r>
            <a:r>
              <a:rPr lang="en-US" sz="1400" dirty="0">
                <a:latin typeface="Times New Roman" panose="02020603050405020304" pitchFamily="18" charset="0"/>
                <a:cs typeface="Times New Roman" panose="02020603050405020304" pitchFamily="18" charset="0"/>
              </a:rPr>
              <a:t> Loan </a:t>
            </a:r>
            <a:r>
              <a:rPr lang="en-US" sz="1400" dirty="0" err="1">
                <a:latin typeface="Times New Roman" panose="02020603050405020304" pitchFamily="18" charset="0"/>
                <a:cs typeface="Times New Roman" panose="02020603050405020304" pitchFamily="18" charset="0"/>
              </a:rPr>
              <a:t>khi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công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tác</a:t>
            </a:r>
            <a:r>
              <a:rPr lang="en-US" sz="1400" dirty="0">
                <a:latin typeface="Times New Roman" panose="02020603050405020304" pitchFamily="18" charset="0"/>
                <a:cs typeface="Times New Roman" panose="02020603050405020304" pitchFamily="18" charset="0"/>
              </a:rPr>
              <a:t> ở </a:t>
            </a:r>
            <a:r>
              <a:rPr lang="en-US" sz="1400" dirty="0" err="1">
                <a:latin typeface="Times New Roman" panose="02020603050405020304" pitchFamily="18" charset="0"/>
                <a:cs typeface="Times New Roman" panose="02020603050405020304" pitchFamily="18" charset="0"/>
              </a:rPr>
              <a:t>nước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ngoài</a:t>
            </a:r>
            <a:r>
              <a:rPr lang="en-US" sz="1400"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không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thể</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kết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nối</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hoặc</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thường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xuyên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bị</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ngắt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kết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nối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ảnh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hưởng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nghiêm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trọng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đến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việc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sử</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dụng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các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hệ</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thống</a:t>
            </a:r>
            <a:r>
              <a:rPr lang="en-US" sz="1400" dirty="0">
                <a:latin typeface="Times New Roman" panose="02020603050405020304" pitchFamily="18" charset="0"/>
                <a:cs typeface="Times New Roman" panose="02020603050405020304" pitchFamily="18" charset="0"/>
              </a:rPr>
              <a:t> EIP/ERP/PLM</a:t>
            </a:r>
            <a:br>
              <a:rPr sz="1600" dirty="0">
                <a:latin typeface="Times New Roman" panose="02020603050405020304" pitchFamily="18" charset="0"/>
                <a:cs typeface="Times New Roman" panose="02020603050405020304" pitchFamily="18" charset="0"/>
              </a:rPr>
            </a:br>
            <a:endParaRPr sz="1600" dirty="0">
              <a:latin typeface="Times New Roman" panose="02020603050405020304" pitchFamily="18" charset="0"/>
              <a:cs typeface="Times New Roman" panose="02020603050405020304" pitchFamily="18" charset="0"/>
            </a:endParaRPr>
          </a:p>
          <a:p>
            <a:pPr lvl="0"/>
            <a:r>
              <a:rPr lang="en-US" altLang="zh-CN" sz="1600" b="1" dirty="0" err="1">
                <a:latin typeface="Times New Roman" panose="02020603050405020304" pitchFamily="18" charset="0"/>
                <a:cs typeface="Times New Roman" panose="02020603050405020304" pitchFamily="18" charset="0"/>
              </a:rPr>
              <a:t>Khó</a:t>
            </a:r>
            <a:r>
              <a:rPr lang="en-US" altLang="zh-CN" sz="1600" b="1" dirty="0">
                <a:latin typeface="Times New Roman" panose="02020603050405020304" pitchFamily="18" charset="0"/>
                <a:cs typeface="Times New Roman" panose="02020603050405020304" pitchFamily="18" charset="0"/>
              </a:rPr>
              <a:t> </a:t>
            </a:r>
            <a:r>
              <a:rPr lang="en-US" altLang="zh-CN" sz="1600" b="1" dirty="0" err="1">
                <a:latin typeface="Times New Roman" panose="02020603050405020304" pitchFamily="18" charset="0"/>
                <a:cs typeface="Times New Roman" panose="02020603050405020304" pitchFamily="18" charset="0"/>
              </a:rPr>
              <a:t>khăn</a:t>
            </a:r>
            <a:r>
              <a:rPr lang="en-US" altLang="zh-CN" sz="1600" b="1" dirty="0">
                <a:latin typeface="Times New Roman" panose="02020603050405020304" pitchFamily="18" charset="0"/>
                <a:cs typeface="Times New Roman" panose="02020603050405020304" pitchFamily="18" charset="0"/>
              </a:rPr>
              <a:t> </a:t>
            </a:r>
            <a:r>
              <a:rPr lang="en-US" altLang="zh-CN" sz="1600" b="1" dirty="0" err="1">
                <a:latin typeface="Times New Roman" panose="02020603050405020304" pitchFamily="18" charset="0"/>
                <a:cs typeface="Times New Roman" panose="02020603050405020304" pitchFamily="18" charset="0"/>
              </a:rPr>
              <a:t>thứ</a:t>
            </a:r>
            <a:r>
              <a:rPr lang="en-US" altLang="zh-CN" sz="1600" b="1" dirty="0">
                <a:latin typeface="Times New Roman" panose="02020603050405020304" pitchFamily="18" charset="0"/>
                <a:cs typeface="Times New Roman" panose="02020603050405020304" pitchFamily="18" charset="0"/>
              </a:rPr>
              <a:t> 2</a:t>
            </a:r>
            <a:r>
              <a:rPr sz="1600" b="1"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Rủ </a:t>
            </a:r>
            <a:r>
              <a:rPr lang="en-US" sz="1600" b="1" dirty="0" err="1">
                <a:latin typeface="Times New Roman" panose="02020603050405020304" pitchFamily="18" charset="0"/>
                <a:cs typeface="Times New Roman" panose="02020603050405020304" pitchFamily="18" charset="0"/>
              </a:rPr>
              <a:t>ro</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về</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mặt</a:t>
            </a:r>
            <a:r>
              <a:rPr lang="en-US" sz="1600" b="1" dirty="0">
                <a:latin typeface="Times New Roman" panose="02020603050405020304" pitchFamily="18" charset="0"/>
                <a:cs typeface="Times New Roman" panose="02020603050405020304" pitchFamily="18" charset="0"/>
              </a:rPr>
              <a:t> ATTT </a:t>
            </a:r>
            <a:r>
              <a:rPr lang="en-US" sz="1600" b="1" dirty="0" err="1">
                <a:latin typeface="Times New Roman" panose="02020603050405020304" pitchFamily="18" charset="0"/>
                <a:cs typeface="Times New Roman" panose="02020603050405020304" pitchFamily="18" charset="0"/>
              </a:rPr>
              <a:t>cao</a:t>
            </a:r>
            <a:endParaRPr sz="1600" b="1" dirty="0">
              <a:latin typeface="Times New Roman" panose="02020603050405020304" pitchFamily="18" charset="0"/>
              <a:cs typeface="Times New Roman" panose="02020603050405020304" pitchFamily="18" charset="0"/>
            </a:endParaRPr>
          </a:p>
          <a:p>
            <a:pPr lvl="1"/>
            <a:r>
              <a:rPr sz="1400" dirty="0">
                <a:latin typeface="Times New Roman" panose="02020603050405020304" pitchFamily="18" charset="0"/>
                <a:cs typeface="Times New Roman" panose="02020603050405020304" pitchFamily="18" charset="0"/>
              </a:rPr>
              <a:t>VPN </a:t>
            </a:r>
            <a:r>
              <a:rPr lang="en-US" sz="1400" dirty="0" err="1">
                <a:latin typeface="Times New Roman" panose="02020603050405020304" pitchFamily="18" charset="0"/>
                <a:cs typeface="Times New Roman" panose="02020603050405020304" pitchFamily="18" charset="0"/>
              </a:rPr>
              <a:t>trao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người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dùng</a:t>
            </a:r>
            <a:r>
              <a:rPr lang="en-US" sz="1400"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niềm</a:t>
            </a:r>
            <a:r>
              <a:rPr lang="en-US" sz="1400" b="1" dirty="0">
                <a:latin typeface="Times New Roman" panose="02020603050405020304" pitchFamily="18" charset="0"/>
                <a:cs typeface="Times New Roman" panose="02020603050405020304" pitchFamily="18" charset="0"/>
              </a:rPr>
              <a:t> tin </a:t>
            </a:r>
            <a:r>
              <a:rPr lang="en-US" sz="1400" b="1" dirty="0" err="1">
                <a:latin typeface="Times New Roman" panose="02020603050405020304" pitchFamily="18" charset="0"/>
                <a:cs typeface="Times New Roman" panose="02020603050405020304" pitchFamily="18" charset="0"/>
              </a:rPr>
              <a:t>ngầm</a:t>
            </a:r>
            <a:r>
              <a:rPr lang="en-US" sz="1400" b="1" dirty="0">
                <a:latin typeface="Times New Roman" panose="02020603050405020304" pitchFamily="18" charset="0"/>
                <a:cs typeface="Times New Roman" panose="02020603050405020304" pitchFamily="18" charset="0"/>
              </a:rPr>
              <a:t> (Implicit Trust)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đối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toàn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bộ</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mạng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nội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bộ</a:t>
            </a:r>
            <a:r>
              <a:rPr lang="en-US" sz="1400" dirty="0">
                <a:latin typeface="Times New Roman" panose="02020603050405020304" pitchFamily="18" charset="0"/>
                <a:cs typeface="Times New Roman" panose="02020603050405020304" pitchFamily="18" charset="0"/>
              </a:rPr>
              <a:t> </a:t>
            </a:r>
          </a:p>
          <a:p>
            <a:pPr lvl="1"/>
            <a:r>
              <a:rPr lang="en-US" sz="1400" dirty="0" err="1">
                <a:latin typeface="Times New Roman" panose="02020603050405020304" pitchFamily="18" charset="0"/>
                <a:cs typeface="Times New Roman" panose="02020603050405020304" pitchFamily="18" charset="0"/>
              </a:rPr>
              <a:t>Một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tài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khoản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đánh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cắp</a:t>
            </a:r>
            <a:r>
              <a:rPr lang="en-US" sz="1400" dirty="0">
                <a:latin typeface="Times New Roman" panose="02020603050405020304" pitchFamily="18" charset="0"/>
                <a:cs typeface="Times New Roman" panose="02020603050405020304" pitchFamily="18" charset="0"/>
              </a:rPr>
              <a:t>, tin </a:t>
            </a:r>
            <a:r>
              <a:rPr lang="en-US" sz="1400" dirty="0" err="1">
                <a:latin typeface="Times New Roman" panose="02020603050405020304" pitchFamily="18" charset="0"/>
                <a:cs typeface="Times New Roman" panose="02020603050405020304" pitchFamily="18" charset="0"/>
              </a:rPr>
              <a:t>tắc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có</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thể</a:t>
            </a:r>
            <a:r>
              <a:rPr lang="en-US" sz="1400" dirty="0">
                <a:latin typeface="Times New Roman" panose="02020603050405020304" pitchFamily="18" charset="0"/>
                <a:cs typeface="Times New Roman" panose="02020603050405020304" pitchFamily="18" charset="0"/>
              </a:rPr>
              <a:t> di </a:t>
            </a:r>
            <a:r>
              <a:rPr lang="en-US" sz="1400" dirty="0" err="1">
                <a:latin typeface="Times New Roman" panose="02020603050405020304" pitchFamily="18" charset="0"/>
                <a:cs typeface="Times New Roman" panose="02020603050405020304" pitchFamily="18" charset="0"/>
              </a:rPr>
              <a:t>chuyển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ngang</a:t>
            </a:r>
            <a:r>
              <a:rPr sz="1400" dirty="0">
                <a:latin typeface="Times New Roman" panose="02020603050405020304" pitchFamily="18" charset="0"/>
                <a:cs typeface="Times New Roman" panose="02020603050405020304" pitchFamily="18" charset="0"/>
              </a:rPr>
              <a:t> (Lateral Movement)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trong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hệ</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thống</a:t>
            </a:r>
            <a:br>
              <a:rPr sz="1600" dirty="0">
                <a:latin typeface="Times New Roman" panose="02020603050405020304" pitchFamily="18" charset="0"/>
                <a:cs typeface="Times New Roman" panose="02020603050405020304" pitchFamily="18" charset="0"/>
              </a:rPr>
            </a:br>
            <a:endParaRPr sz="1600" dirty="0">
              <a:latin typeface="Times New Roman" panose="02020603050405020304" pitchFamily="18" charset="0"/>
              <a:cs typeface="Times New Roman" panose="02020603050405020304" pitchFamily="18" charset="0"/>
            </a:endParaRPr>
          </a:p>
          <a:p>
            <a:pPr lvl="0"/>
            <a:r>
              <a:rPr lang="en-US" sz="1600" b="1" dirty="0" err="1">
                <a:latin typeface="Times New Roman" panose="02020603050405020304" pitchFamily="18" charset="0"/>
                <a:cs typeface="Times New Roman" panose="02020603050405020304" pitchFamily="18" charset="0"/>
              </a:rPr>
              <a:t>Khó</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khăn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thứ</a:t>
            </a:r>
            <a:r>
              <a:rPr lang="en-US" sz="1600" b="1" dirty="0">
                <a:latin typeface="Times New Roman" panose="02020603050405020304" pitchFamily="18" charset="0"/>
                <a:cs typeface="Times New Roman" panose="02020603050405020304" pitchFamily="18" charset="0"/>
              </a:rPr>
              <a:t> 3</a:t>
            </a:r>
            <a:r>
              <a:rPr sz="1600" b="1"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Chi </a:t>
            </a:r>
            <a:r>
              <a:rPr lang="en-US" sz="1600" b="1" dirty="0" err="1">
                <a:latin typeface="Times New Roman" panose="02020603050405020304" pitchFamily="18" charset="0"/>
                <a:cs typeface="Times New Roman" panose="02020603050405020304" pitchFamily="18" charset="0"/>
              </a:rPr>
              <a:t>phí</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bảo</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trì</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cao</a:t>
            </a:r>
            <a:endParaRPr sz="1600" b="1" dirty="0">
              <a:latin typeface="Times New Roman" panose="02020603050405020304" pitchFamily="18" charset="0"/>
              <a:cs typeface="Times New Roman" panose="02020603050405020304" pitchFamily="18" charset="0"/>
            </a:endParaRPr>
          </a:p>
          <a:p>
            <a:pPr lvl="1"/>
            <a:r>
              <a:rPr lang="vi-VN" sz="1400" dirty="0">
                <a:latin typeface="Times New Roman" panose="02020603050405020304" pitchFamily="18" charset="0"/>
                <a:cs typeface="Times New Roman" panose="02020603050405020304" pitchFamily="18" charset="0"/>
              </a:rPr>
              <a:t>Cần phải bảo trì máy chủ VPN, quy tắc tường lửa và quyền truy cập.</a:t>
            </a:r>
            <a:endParaRP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8498"/>
            <a:ext cx="8229600" cy="857250"/>
          </a:xfrm>
        </p:spPr>
        <p:txBody>
          <a:bodyPr/>
          <a:lstStyle/>
          <a:p>
            <a:pPr marL="0" lvl="0" indent="0" algn="l">
              <a:buNone/>
            </a:pPr>
            <a:r>
              <a:rPr b="1" dirty="0">
                <a:latin typeface="Times New Roman" panose="02020603050405020304" pitchFamily="18" charset="0"/>
                <a:cs typeface="Times New Roman" panose="02020603050405020304" pitchFamily="18" charset="0"/>
              </a:rPr>
              <a:t>4</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Giới</a:t>
            </a:r>
            <a:r>
              <a:rPr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thiệu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cấu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trúc</a:t>
            </a:r>
            <a:r>
              <a:rPr lang="en-US" b="1"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Zero Trust</a:t>
            </a:r>
          </a:p>
        </p:txBody>
      </p:sp>
      <p:sp>
        <p:nvSpPr>
          <p:cNvPr id="3" name="Content Placeholder 2"/>
          <p:cNvSpPr>
            <a:spLocks noGrp="1"/>
          </p:cNvSpPr>
          <p:nvPr>
            <p:ph idx="1"/>
          </p:nvPr>
        </p:nvSpPr>
        <p:spPr>
          <a:xfrm>
            <a:off x="457200" y="1807259"/>
            <a:ext cx="3154218" cy="2328751"/>
          </a:xfrm>
        </p:spPr>
        <p:txBody>
          <a:bodyPr>
            <a:noAutofit/>
          </a:bodyPr>
          <a:lstStyle/>
          <a:p>
            <a:pPr marL="0" lvl="0" indent="0">
              <a:buNone/>
            </a:pPr>
            <a:r>
              <a:rPr lang="en-US" sz="1800" b="1" dirty="0" err="1">
                <a:latin typeface="Times New Roman" panose="02020603050405020304" pitchFamily="18" charset="0"/>
                <a:cs typeface="Times New Roman" panose="02020603050405020304" pitchFamily="18" charset="0"/>
              </a:rPr>
              <a:t>Định</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nghĩa</a:t>
            </a:r>
            <a:r>
              <a:rPr sz="1800" b="1" dirty="0">
                <a:latin typeface="Times New Roman" panose="02020603050405020304" pitchFamily="18" charset="0"/>
                <a:cs typeface="Times New Roman" panose="02020603050405020304" pitchFamily="18" charset="0"/>
              </a:rPr>
              <a:t>：</a:t>
            </a:r>
            <a:r>
              <a:rPr sz="18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Bất kể người dùng ở bên trong hay bên ngoài, mỗi lần truy cập tài nguyên đều phải trải qua xác thực danh tính, kiểm tra trạng thái thiết bị và phân quyền.</a:t>
            </a:r>
            <a:endParaRPr sz="1800" dirty="0">
              <a:latin typeface="Times New Roman" panose="02020603050405020304" pitchFamily="18" charset="0"/>
              <a:cs typeface="Times New Roman" panose="02020603050405020304" pitchFamily="18" charset="0"/>
            </a:endParaRPr>
          </a:p>
        </p:txBody>
      </p:sp>
      <p:pic>
        <p:nvPicPr>
          <p:cNvPr id="5" name="圖片 4" descr="一張含有 文字, 圖表, 設計 的圖片&#10;&#10;AI 產生的內容可能不正確。">
            <a:extLst>
              <a:ext uri="{FF2B5EF4-FFF2-40B4-BE49-F238E27FC236}">
                <a16:creationId xmlns:a16="http://schemas.microsoft.com/office/drawing/2014/main" id="{1716511B-6341-AA5E-B399-8E4DA2C898ED}"/>
              </a:ext>
            </a:extLst>
          </p:cNvPr>
          <p:cNvPicPr>
            <a:picLocks noChangeAspect="1"/>
          </p:cNvPicPr>
          <p:nvPr/>
        </p:nvPicPr>
        <p:blipFill>
          <a:blip r:embed="rId2"/>
          <a:stretch>
            <a:fillRect/>
          </a:stretch>
        </p:blipFill>
        <p:spPr>
          <a:xfrm>
            <a:off x="3505202" y="1675033"/>
            <a:ext cx="4893732" cy="3262488"/>
          </a:xfrm>
          <a:prstGeom prst="rect">
            <a:avLst/>
          </a:prstGeom>
        </p:spPr>
      </p:pic>
      <p:sp>
        <p:nvSpPr>
          <p:cNvPr id="7" name="文字方塊 6">
            <a:extLst>
              <a:ext uri="{FF2B5EF4-FFF2-40B4-BE49-F238E27FC236}">
                <a16:creationId xmlns:a16="http://schemas.microsoft.com/office/drawing/2014/main" id="{D8CF25FD-3883-47D8-2795-6EB89BD8E05A}"/>
              </a:ext>
            </a:extLst>
          </p:cNvPr>
          <p:cNvSpPr txBox="1"/>
          <p:nvPr/>
        </p:nvSpPr>
        <p:spPr>
          <a:xfrm>
            <a:off x="914400" y="950010"/>
            <a:ext cx="7574844" cy="646331"/>
          </a:xfrm>
          <a:prstGeom prst="rect">
            <a:avLst/>
          </a:prstGeom>
          <a:noFill/>
        </p:spPr>
        <p:txBody>
          <a:bodyPr wrap="square">
            <a:spAutoFit/>
          </a:bodyPr>
          <a:lstStyle/>
          <a:p>
            <a:pPr lvl="0"/>
            <a:r>
              <a:rPr lang="en-US" altLang="zh-TW" b="1" dirty="0" err="1">
                <a:latin typeface="Times New Roman" panose="02020603050405020304" pitchFamily="18" charset="0"/>
                <a:ea typeface="Microsoft JhengHei Light" panose="020B0304030504040204" pitchFamily="34" charset="-120"/>
                <a:cs typeface="Times New Roman" panose="02020603050405020304" pitchFamily="18" charset="0"/>
              </a:rPr>
              <a:t>Nguyên</a:t>
            </a:r>
            <a:r>
              <a:rPr lang="en-US" altLang="zh-TW"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altLang="zh-TW" b="1" dirty="0" err="1">
                <a:latin typeface="Times New Roman" panose="02020603050405020304" pitchFamily="18" charset="0"/>
                <a:ea typeface="Microsoft JhengHei Light" panose="020B0304030504040204" pitchFamily="34" charset="-120"/>
                <a:cs typeface="Times New Roman" panose="02020603050405020304" pitchFamily="18" charset="0"/>
              </a:rPr>
              <a:t>tắc</a:t>
            </a:r>
            <a:r>
              <a:rPr lang="en-US" altLang="zh-TW"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altLang="zh-TW" b="1" dirty="0" err="1">
                <a:latin typeface="Times New Roman" panose="02020603050405020304" pitchFamily="18" charset="0"/>
                <a:ea typeface="Microsoft JhengHei Light" panose="020B0304030504040204" pitchFamily="34" charset="-120"/>
                <a:cs typeface="Times New Roman" panose="02020603050405020304" pitchFamily="18" charset="0"/>
              </a:rPr>
              <a:t>trọng</a:t>
            </a:r>
            <a:r>
              <a:rPr lang="en-US" altLang="zh-TW"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altLang="zh-TW" b="1" dirty="0" err="1">
                <a:latin typeface="Times New Roman" panose="02020603050405020304" pitchFamily="18" charset="0"/>
                <a:ea typeface="Microsoft JhengHei Light" panose="020B0304030504040204" pitchFamily="34" charset="-120"/>
                <a:cs typeface="Times New Roman" panose="02020603050405020304" pitchFamily="18" charset="0"/>
              </a:rPr>
              <a:t>yếu</a:t>
            </a:r>
            <a:r>
              <a:rPr lang="zh-TW" altLang="en-US" sz="1800" b="1" dirty="0">
                <a:latin typeface="Times New Roman" panose="02020603050405020304" pitchFamily="18" charset="0"/>
                <a:ea typeface="Microsoft JhengHei Light" panose="020B0304030504040204" pitchFamily="34" charset="-120"/>
                <a:cs typeface="Times New Roman" panose="02020603050405020304" pitchFamily="18" charset="0"/>
              </a:rPr>
              <a:t>：「</a:t>
            </a:r>
            <a:r>
              <a:rPr lang="en-US" altLang="zh-TW" sz="1800" b="1" dirty="0" err="1">
                <a:latin typeface="Times New Roman" panose="02020603050405020304" pitchFamily="18" charset="0"/>
                <a:ea typeface="Microsoft JhengHei Light" panose="020B0304030504040204" pitchFamily="34" charset="-120"/>
                <a:cs typeface="Times New Roman" panose="02020603050405020304" pitchFamily="18" charset="0"/>
              </a:rPr>
              <a:t>Không</a:t>
            </a:r>
            <a:r>
              <a:rPr lang="en-US" altLang="zh-TW" sz="1800" b="1" dirty="0">
                <a:latin typeface="Times New Roman" panose="02020603050405020304" pitchFamily="18" charset="0"/>
                <a:ea typeface="Microsoft JhengHei Light" panose="020B0304030504040204" pitchFamily="34" charset="-120"/>
                <a:cs typeface="Times New Roman" panose="02020603050405020304" pitchFamily="18" charset="0"/>
              </a:rPr>
              <a:t> bao </a:t>
            </a:r>
            <a:r>
              <a:rPr lang="en-US" altLang="zh-TW" sz="1800" b="1" dirty="0" err="1">
                <a:latin typeface="Times New Roman" panose="02020603050405020304" pitchFamily="18" charset="0"/>
                <a:ea typeface="Microsoft JhengHei Light" panose="020B0304030504040204" pitchFamily="34" charset="-120"/>
                <a:cs typeface="Times New Roman" panose="02020603050405020304" pitchFamily="18" charset="0"/>
              </a:rPr>
              <a:t>giờ</a:t>
            </a:r>
            <a:r>
              <a:rPr lang="en-US" altLang="zh-TW" sz="1800" b="1" dirty="0">
                <a:latin typeface="Times New Roman" panose="02020603050405020304" pitchFamily="18" charset="0"/>
                <a:ea typeface="Microsoft JhengHei Light" panose="020B0304030504040204" pitchFamily="34" charset="-120"/>
                <a:cs typeface="Times New Roman" panose="02020603050405020304" pitchFamily="18" charset="0"/>
              </a:rPr>
              <a:t> tin </a:t>
            </a:r>
            <a:r>
              <a:rPr lang="en-US" altLang="zh-TW" sz="1800" b="1" dirty="0" err="1">
                <a:latin typeface="Times New Roman" panose="02020603050405020304" pitchFamily="18" charset="0"/>
                <a:ea typeface="Microsoft JhengHei Light" panose="020B0304030504040204" pitchFamily="34" charset="-120"/>
                <a:cs typeface="Times New Roman" panose="02020603050405020304" pitchFamily="18" charset="0"/>
              </a:rPr>
              <a:t>tưởng</a:t>
            </a:r>
            <a:r>
              <a:rPr lang="en-US" altLang="zh-TW" sz="18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altLang="zh-TW" sz="1800" b="1" dirty="0" err="1">
                <a:latin typeface="Times New Roman" panose="02020603050405020304" pitchFamily="18" charset="0"/>
                <a:ea typeface="Microsoft JhengHei Light" panose="020B0304030504040204" pitchFamily="34" charset="-120"/>
                <a:cs typeface="Times New Roman" panose="02020603050405020304" pitchFamily="18" charset="0"/>
              </a:rPr>
              <a:t>luôn</a:t>
            </a:r>
            <a:r>
              <a:rPr lang="en-US" altLang="zh-TW" sz="18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altLang="zh-TW" sz="1800" b="1" dirty="0" err="1">
                <a:latin typeface="Times New Roman" panose="02020603050405020304" pitchFamily="18" charset="0"/>
                <a:ea typeface="Microsoft JhengHei Light" panose="020B0304030504040204" pitchFamily="34" charset="-120"/>
                <a:cs typeface="Times New Roman" panose="02020603050405020304" pitchFamily="18" charset="0"/>
              </a:rPr>
              <a:t>luôn</a:t>
            </a:r>
            <a:r>
              <a:rPr lang="en-US" altLang="zh-TW" sz="18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altLang="zh-TW" sz="1800" b="1" dirty="0" err="1">
                <a:latin typeface="Times New Roman" panose="02020603050405020304" pitchFamily="18" charset="0"/>
                <a:ea typeface="Microsoft JhengHei Light" panose="020B0304030504040204" pitchFamily="34" charset="-120"/>
                <a:cs typeface="Times New Roman" panose="02020603050405020304" pitchFamily="18" charset="0"/>
              </a:rPr>
              <a:t>xác</a:t>
            </a:r>
            <a:r>
              <a:rPr lang="en-US" altLang="zh-TW" sz="18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altLang="zh-TW" sz="1800" b="1" dirty="0" err="1">
                <a:latin typeface="Times New Roman" panose="02020603050405020304" pitchFamily="18" charset="0"/>
                <a:ea typeface="Microsoft JhengHei Light" panose="020B0304030504040204" pitchFamily="34" charset="-120"/>
                <a:cs typeface="Times New Roman" panose="02020603050405020304" pitchFamily="18" charset="0"/>
              </a:rPr>
              <a:t>thực</a:t>
            </a:r>
            <a:r>
              <a:rPr lang="zh-TW" altLang="en-US" sz="18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altLang="zh-TW" sz="1800" b="1" dirty="0">
                <a:latin typeface="Times New Roman" panose="02020603050405020304" pitchFamily="18" charset="0"/>
                <a:ea typeface="Microsoft JhengHei Light" panose="020B0304030504040204" pitchFamily="34" charset="-120"/>
                <a:cs typeface="Times New Roman" panose="02020603050405020304" pitchFamily="18" charset="0"/>
              </a:rPr>
              <a:t>(Never Trust, Always Verify)</a:t>
            </a:r>
            <a:r>
              <a:rPr lang="zh-TW" altLang="en-US" sz="1800" b="1" dirty="0">
                <a:latin typeface="Times New Roman" panose="02020603050405020304" pitchFamily="18" charset="0"/>
                <a:ea typeface="Microsoft JhengHei Light" panose="020B0304030504040204" pitchFamily="34" charset="-120"/>
                <a:cs typeface="Times New Roman" panose="02020603050405020304" pitchFamily="18" charset="0"/>
              </a:rPr>
              <a:t>」</a:t>
            </a:r>
            <a:r>
              <a:rPr lang="zh-TW" altLang="en-US" sz="1800" dirty="0">
                <a:latin typeface="Times New Roman" panose="02020603050405020304" pitchFamily="18" charset="0"/>
                <a:ea typeface="Microsoft JhengHei Light" panose="020B0304030504040204" pitchFamily="34" charset="-120"/>
                <a:cs typeface="Times New Roman" panose="02020603050405020304" pitchFamily="18" charset="0"/>
              </a:rPr>
              <a:t>。</a:t>
            </a:r>
          </a:p>
        </p:txBody>
      </p:sp>
      <p:sp>
        <p:nvSpPr>
          <p:cNvPr id="4" name="TextBox 3">
            <a:extLst>
              <a:ext uri="{FF2B5EF4-FFF2-40B4-BE49-F238E27FC236}">
                <a16:creationId xmlns:a16="http://schemas.microsoft.com/office/drawing/2014/main" id="{49AA317E-304F-44C7-9E33-8D58C969DEDB}"/>
              </a:ext>
            </a:extLst>
          </p:cNvPr>
          <p:cNvSpPr txBox="1"/>
          <p:nvPr/>
        </p:nvSpPr>
        <p:spPr>
          <a:xfrm>
            <a:off x="3920839" y="1807259"/>
            <a:ext cx="2443016" cy="338554"/>
          </a:xfrm>
          <a:prstGeom prst="rect">
            <a:avLst/>
          </a:prstGeom>
          <a:solidFill>
            <a:srgbClr val="FCFBFC"/>
          </a:solidFill>
        </p:spPr>
        <p:txBody>
          <a:bodyPr wrap="square" rtlCol="0">
            <a:spAutoFit/>
          </a:bodyPr>
          <a:lstStyle/>
          <a:p>
            <a:r>
              <a:rPr lang="en-US" sz="1600" b="1" dirty="0">
                <a:latin typeface="Times New Roman" panose="02020603050405020304" pitchFamily="18" charset="0"/>
                <a:cs typeface="Times New Roman" panose="02020603050405020304" pitchFamily="18" charset="0"/>
              </a:rPr>
              <a:t>VPN </a:t>
            </a:r>
            <a:r>
              <a:rPr lang="en-US" sz="1600" b="1" dirty="0" err="1">
                <a:latin typeface="Times New Roman" panose="02020603050405020304" pitchFamily="18" charset="0"/>
                <a:cs typeface="Times New Roman" panose="02020603050405020304" pitchFamily="18" charset="0"/>
              </a:rPr>
              <a:t>truyền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thống</a:t>
            </a:r>
            <a:endParaRPr lang="en-US" sz="1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lgn="l">
              <a:buNone/>
            </a:pPr>
            <a:r>
              <a:rPr sz="3200" b="1" dirty="0">
                <a:latin typeface="Times New Roman" panose="02020603050405020304" pitchFamily="18" charset="0"/>
                <a:cs typeface="Times New Roman" panose="02020603050405020304" pitchFamily="18" charset="0"/>
              </a:rPr>
              <a:t>5</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Phương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án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đề</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xuất</a:t>
            </a:r>
            <a:r>
              <a:rPr sz="3200" b="1" dirty="0" err="1">
                <a:latin typeface="Times New Roman" panose="02020603050405020304" pitchFamily="18" charset="0"/>
                <a:cs typeface="Times New Roman" panose="02020603050405020304" pitchFamily="18" charset="0"/>
              </a:rPr>
              <a:t>：</a:t>
            </a:r>
            <a:r>
              <a:rPr lang="en-US" sz="3200" b="1" dirty="0" err="1">
                <a:latin typeface="Times New Roman" panose="02020603050405020304" pitchFamily="18" charset="0"/>
                <a:cs typeface="Times New Roman" panose="02020603050405020304" pitchFamily="18" charset="0"/>
              </a:rPr>
              <a:t>các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thành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phần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cốt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lõi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của</a:t>
            </a:r>
            <a:r>
              <a:rPr lang="en-US" sz="3200" b="1" dirty="0">
                <a:latin typeface="Times New Roman" panose="02020603050405020304" pitchFamily="18" charset="0"/>
                <a:cs typeface="Times New Roman" panose="02020603050405020304" pitchFamily="18" charset="0"/>
              </a:rPr>
              <a:t> </a:t>
            </a:r>
            <a:r>
              <a:rPr sz="3200" b="1" dirty="0">
                <a:latin typeface="Times New Roman" panose="02020603050405020304" pitchFamily="18" charset="0"/>
                <a:cs typeface="Times New Roman" panose="02020603050405020304" pitchFamily="18" charset="0"/>
              </a:rPr>
              <a:t>Cloudflare ZTNA</a:t>
            </a:r>
          </a:p>
        </p:txBody>
      </p:sp>
      <p:sp>
        <p:nvSpPr>
          <p:cNvPr id="3" name="Content Placeholder 2"/>
          <p:cNvSpPr>
            <a:spLocks noGrp="1"/>
          </p:cNvSpPr>
          <p:nvPr>
            <p:ph idx="1"/>
          </p:nvPr>
        </p:nvSpPr>
        <p:spPr>
          <a:xfrm>
            <a:off x="457200" y="1200150"/>
            <a:ext cx="8229600" cy="3654071"/>
          </a:xfrm>
        </p:spPr>
        <p:txBody>
          <a:bodyPr>
            <a:noAutofit/>
          </a:bodyPr>
          <a:lstStyle/>
          <a:p>
            <a:pPr marL="0" lvl="0" indent="0">
              <a:buNone/>
            </a:pP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Chúng</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tôi</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tận</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dụng</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3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dịch</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vụ</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cốt</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lõi</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của</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Cloudflare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để</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giải</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quyết</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tất</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cả</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các</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vấn</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đề</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a:t>
            </a:r>
            <a:endParaRPr sz="1600" dirty="0">
              <a:latin typeface="Times New Roman" panose="02020603050405020304" pitchFamily="18" charset="0"/>
              <a:ea typeface="Microsoft JhengHei Light" panose="020B0304030504040204" pitchFamily="34" charset="-120"/>
              <a:cs typeface="Times New Roman" panose="02020603050405020304" pitchFamily="18" charset="0"/>
            </a:endParaRPr>
          </a:p>
          <a:p>
            <a:pPr marL="342900" lvl="0" indent="-342900">
              <a:buAutoNum type="arabicPeriod"/>
            </a:pPr>
            <a:r>
              <a:rPr sz="1600" b="1" dirty="0">
                <a:latin typeface="Times New Roman" panose="02020603050405020304" pitchFamily="18" charset="0"/>
                <a:ea typeface="Microsoft JhengHei Light" panose="020B0304030504040204" pitchFamily="34" charset="-120"/>
                <a:cs typeface="Times New Roman" panose="02020603050405020304" pitchFamily="18" charset="0"/>
              </a:rPr>
              <a:t>Cloudflare Tunnel (</a:t>
            </a:r>
            <a:r>
              <a:rPr lang="en-US" sz="1600" b="1" dirty="0" err="1">
                <a:latin typeface="Times New Roman" panose="02020603050405020304" pitchFamily="18" charset="0"/>
                <a:ea typeface="Microsoft JhengHei Light" panose="020B0304030504040204" pitchFamily="34" charset="-120"/>
                <a:cs typeface="Times New Roman" panose="02020603050405020304" pitchFamily="18" charset="0"/>
              </a:rPr>
              <a:t>kênh</a:t>
            </a:r>
            <a:r>
              <a:rPr lang="en-US" sz="16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b="1" dirty="0" err="1">
                <a:latin typeface="Times New Roman" panose="02020603050405020304" pitchFamily="18" charset="0"/>
                <a:ea typeface="Microsoft JhengHei Light" panose="020B0304030504040204" pitchFamily="34" charset="-120"/>
                <a:cs typeface="Times New Roman" panose="02020603050405020304" pitchFamily="18" charset="0"/>
              </a:rPr>
              <a:t>kết</a:t>
            </a:r>
            <a:r>
              <a:rPr lang="en-US" sz="16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b="1" dirty="0" err="1">
                <a:latin typeface="Times New Roman" panose="02020603050405020304" pitchFamily="18" charset="0"/>
                <a:ea typeface="Microsoft JhengHei Light" panose="020B0304030504040204" pitchFamily="34" charset="-120"/>
                <a:cs typeface="Times New Roman" panose="02020603050405020304" pitchFamily="18" charset="0"/>
              </a:rPr>
              <a:t>nối</a:t>
            </a:r>
            <a:r>
              <a:rPr lang="en-US" sz="1600" b="1" dirty="0">
                <a:latin typeface="Times New Roman" panose="02020603050405020304" pitchFamily="18" charset="0"/>
                <a:ea typeface="Microsoft JhengHei Light" panose="020B0304030504040204" pitchFamily="34" charset="-120"/>
                <a:cs typeface="Times New Roman" panose="02020603050405020304" pitchFamily="18" charset="0"/>
              </a:rPr>
              <a:t> an </a:t>
            </a:r>
            <a:r>
              <a:rPr lang="en-US" sz="1600" b="1" dirty="0" err="1">
                <a:latin typeface="Times New Roman" panose="02020603050405020304" pitchFamily="18" charset="0"/>
                <a:ea typeface="Microsoft JhengHei Light" panose="020B0304030504040204" pitchFamily="34" charset="-120"/>
                <a:cs typeface="Times New Roman" panose="02020603050405020304" pitchFamily="18" charset="0"/>
              </a:rPr>
              <a:t>toàn</a:t>
            </a:r>
            <a:r>
              <a:rPr sz="1600" b="1" dirty="0">
                <a:latin typeface="Times New Roman" panose="02020603050405020304" pitchFamily="18" charset="0"/>
                <a:ea typeface="Microsoft JhengHei Light" panose="020B0304030504040204" pitchFamily="34" charset="-120"/>
                <a:cs typeface="Times New Roman" panose="02020603050405020304" pitchFamily="18" charset="0"/>
              </a:rPr>
              <a:t>):</a:t>
            </a:r>
          </a:p>
          <a:p>
            <a:pPr lvl="1"/>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Mục</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đích</a:t>
            </a:r>
            <a:r>
              <a:rPr sz="1400" b="1" dirty="0">
                <a:latin typeface="Times New Roman" panose="02020603050405020304" pitchFamily="18" charset="0"/>
                <a:ea typeface="Microsoft JhengHei Light" panose="020B0304030504040204" pitchFamily="34" charset="-120"/>
                <a:cs typeface="Times New Roman" panose="02020603050405020304" pitchFamily="18" charset="0"/>
              </a:rPr>
              <a:t>：</a:t>
            </a:r>
            <a:r>
              <a:rPr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kết</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nối</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an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toàn</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các</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ứng</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dụng</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nội</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bộ</a:t>
            </a:r>
            <a:r>
              <a:rPr sz="1400" dirty="0">
                <a:latin typeface="Times New Roman" panose="02020603050405020304" pitchFamily="18" charset="0"/>
                <a:ea typeface="Microsoft JhengHei Light" panose="020B0304030504040204" pitchFamily="34" charset="-120"/>
                <a:cs typeface="Times New Roman" panose="02020603050405020304" pitchFamily="18" charset="0"/>
              </a:rPr>
              <a:t> (EIP/ERP/PLM)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tới</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mạng</a:t>
            </a:r>
            <a:r>
              <a:rPr sz="1400" dirty="0">
                <a:latin typeface="Times New Roman" panose="02020603050405020304" pitchFamily="18" charset="0"/>
                <a:ea typeface="Microsoft JhengHei Light" panose="020B0304030504040204" pitchFamily="34" charset="-120"/>
                <a:cs typeface="Times New Roman" panose="02020603050405020304" pitchFamily="18" charset="0"/>
              </a:rPr>
              <a:t> Cloudflare</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a:t>
            </a:r>
            <a:endParaRPr sz="1400" dirty="0">
              <a:latin typeface="Times New Roman" panose="02020603050405020304" pitchFamily="18" charset="0"/>
              <a:ea typeface="Microsoft JhengHei Light" panose="020B0304030504040204" pitchFamily="34" charset="-120"/>
              <a:cs typeface="Times New Roman" panose="02020603050405020304" pitchFamily="18" charset="0"/>
            </a:endParaRPr>
          </a:p>
          <a:p>
            <a:pPr lvl="1"/>
            <a:r>
              <a:rPr lang="vi-VN" sz="1400" b="1" dirty="0">
                <a:latin typeface="Times New Roman" panose="02020603050405020304" pitchFamily="18" charset="0"/>
                <a:ea typeface="Microsoft JhengHei Light" panose="020B0304030504040204" pitchFamily="34" charset="-120"/>
                <a:cs typeface="Times New Roman" panose="02020603050405020304" pitchFamily="18" charset="0"/>
              </a:rPr>
              <a:t>Ư</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u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điểm</a:t>
            </a:r>
            <a:r>
              <a:rPr sz="1400" b="1" dirty="0">
                <a:latin typeface="Times New Roman" panose="02020603050405020304" pitchFamily="18" charset="0"/>
                <a:ea typeface="Microsoft JhengHei Light" panose="020B0304030504040204" pitchFamily="34" charset="-120"/>
                <a:cs typeface="Times New Roman" panose="02020603050405020304" pitchFamily="18" charset="0"/>
              </a:rPr>
              <a:t>：</a:t>
            </a:r>
            <a:r>
              <a:rPr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vi-VN" sz="1400" dirty="0">
                <a:latin typeface="Times New Roman" panose="02020603050405020304" pitchFamily="18" charset="0"/>
                <a:ea typeface="Microsoft JhengHei Light" panose="020B0304030504040204" pitchFamily="34" charset="-120"/>
                <a:cs typeface="Times New Roman" panose="02020603050405020304" pitchFamily="18" charset="0"/>
              </a:rPr>
              <a:t>Không cần mở bất kỳ cổng (Port) nào trên tường lửa, </a:t>
            </a:r>
            <a:r>
              <a:rPr lang="vi-VN" sz="1400" b="1" dirty="0">
                <a:latin typeface="Times New Roman" panose="02020603050405020304" pitchFamily="18" charset="0"/>
                <a:ea typeface="Microsoft JhengHei Light" panose="020B0304030504040204" pitchFamily="34" charset="-120"/>
                <a:cs typeface="Times New Roman" panose="02020603050405020304" pitchFamily="18" charset="0"/>
              </a:rPr>
              <a:t>từ đó loại bỏ hoàn toàn bề mặt tấn công từ bên ngoài</a:t>
            </a:r>
            <a:r>
              <a:rPr lang="vi-VN" sz="1400" dirty="0">
                <a:latin typeface="Times New Roman" panose="02020603050405020304" pitchFamily="18" charset="0"/>
                <a:ea typeface="Microsoft JhengHei Light" panose="020B0304030504040204" pitchFamily="34" charset="-120"/>
                <a:cs typeface="Times New Roman" panose="02020603050405020304" pitchFamily="18" charset="0"/>
              </a:rPr>
              <a:t>. </a:t>
            </a:r>
            <a:br>
              <a:rPr sz="1600" dirty="0">
                <a:latin typeface="Times New Roman" panose="02020603050405020304" pitchFamily="18" charset="0"/>
                <a:ea typeface="Microsoft JhengHei Light" panose="020B0304030504040204" pitchFamily="34" charset="-120"/>
                <a:cs typeface="Times New Roman" panose="02020603050405020304" pitchFamily="18" charset="0"/>
              </a:rPr>
            </a:br>
            <a:endParaRPr sz="1600" dirty="0">
              <a:latin typeface="Times New Roman" panose="02020603050405020304" pitchFamily="18" charset="0"/>
              <a:ea typeface="Microsoft JhengHei Light" panose="020B0304030504040204" pitchFamily="34" charset="-120"/>
              <a:cs typeface="Times New Roman" panose="02020603050405020304" pitchFamily="18" charset="0"/>
            </a:endParaRPr>
          </a:p>
          <a:p>
            <a:pPr marL="342900" lvl="0" indent="-342900">
              <a:buAutoNum type="arabicPeriod"/>
            </a:pPr>
            <a:r>
              <a:rPr sz="1600" b="1" dirty="0">
                <a:latin typeface="Times New Roman" panose="02020603050405020304" pitchFamily="18" charset="0"/>
                <a:ea typeface="Microsoft JhengHei Light" panose="020B0304030504040204" pitchFamily="34" charset="-120"/>
                <a:cs typeface="Times New Roman" panose="02020603050405020304" pitchFamily="18" charset="0"/>
              </a:rPr>
              <a:t>Cloudflare WARP (</a:t>
            </a:r>
            <a:r>
              <a:rPr lang="en-US" sz="1600" b="1" dirty="0" err="1">
                <a:latin typeface="Times New Roman" panose="02020603050405020304" pitchFamily="18" charset="0"/>
                <a:ea typeface="Microsoft JhengHei Light" panose="020B0304030504040204" pitchFamily="34" charset="-120"/>
                <a:cs typeface="Times New Roman" panose="02020603050405020304" pitchFamily="18" charset="0"/>
              </a:rPr>
              <a:t>máy</a:t>
            </a:r>
            <a:r>
              <a:rPr lang="en-US" sz="16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b="1" dirty="0" err="1">
                <a:latin typeface="Times New Roman" panose="02020603050405020304" pitchFamily="18" charset="0"/>
                <a:ea typeface="Microsoft JhengHei Light" panose="020B0304030504040204" pitchFamily="34" charset="-120"/>
                <a:cs typeface="Times New Roman" panose="02020603050405020304" pitchFamily="18" charset="0"/>
              </a:rPr>
              <a:t>khách</a:t>
            </a:r>
            <a:r>
              <a:rPr sz="1600" b="1" dirty="0">
                <a:latin typeface="Times New Roman" panose="02020603050405020304" pitchFamily="18" charset="0"/>
                <a:ea typeface="Microsoft JhengHei Light" panose="020B0304030504040204" pitchFamily="34" charset="-120"/>
                <a:cs typeface="Times New Roman" panose="02020603050405020304" pitchFamily="18" charset="0"/>
              </a:rPr>
              <a:t>):</a:t>
            </a:r>
          </a:p>
          <a:p>
            <a:pPr lvl="1"/>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Mục</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đích</a:t>
            </a:r>
            <a:r>
              <a:rPr sz="1400" b="1" dirty="0">
                <a:latin typeface="Times New Roman" panose="02020603050405020304" pitchFamily="18" charset="0"/>
                <a:ea typeface="Microsoft JhengHei Light" panose="020B0304030504040204" pitchFamily="34" charset="-120"/>
                <a:cs typeface="Times New Roman" panose="02020603050405020304" pitchFamily="18" charset="0"/>
              </a:rPr>
              <a:t>：</a:t>
            </a:r>
            <a:r>
              <a:rPr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phần</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mềm</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kết</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nối</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được</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cài</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trên</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máy</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tính</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điện</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thoại</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của</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cán</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bộ</a:t>
            </a:r>
            <a:endParaRPr sz="1400" dirty="0">
              <a:latin typeface="Times New Roman" panose="02020603050405020304" pitchFamily="18" charset="0"/>
              <a:ea typeface="Microsoft JhengHei Light" panose="020B0304030504040204" pitchFamily="34" charset="-120"/>
              <a:cs typeface="Times New Roman" panose="02020603050405020304" pitchFamily="18" charset="0"/>
            </a:endParaRPr>
          </a:p>
          <a:p>
            <a:pPr lvl="1"/>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Ưu</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điểm</a:t>
            </a:r>
            <a:r>
              <a:rPr sz="1400" b="1" dirty="0">
                <a:latin typeface="Times New Roman" panose="02020603050405020304" pitchFamily="18" charset="0"/>
                <a:ea typeface="Microsoft JhengHei Light" panose="020B0304030504040204" pitchFamily="34" charset="-120"/>
                <a:cs typeface="Times New Roman" panose="02020603050405020304" pitchFamily="18" charset="0"/>
              </a:rPr>
              <a:t>：</a:t>
            </a:r>
            <a:r>
              <a:rPr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sử</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dụng</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giao</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thức</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độc</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quyền</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tăng</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đáng</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kể</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độ</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ổn</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định</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của</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kết</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nối</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xuyên</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quốc</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gia</a:t>
            </a:r>
            <a:br>
              <a:rPr sz="1600" b="1" dirty="0">
                <a:latin typeface="Times New Roman" panose="02020603050405020304" pitchFamily="18" charset="0"/>
                <a:ea typeface="Microsoft JhengHei Light" panose="020B0304030504040204" pitchFamily="34" charset="-120"/>
                <a:cs typeface="Times New Roman" panose="02020603050405020304" pitchFamily="18" charset="0"/>
              </a:rPr>
            </a:br>
            <a:endParaRPr sz="1600" b="1" dirty="0">
              <a:latin typeface="Times New Roman" panose="02020603050405020304" pitchFamily="18" charset="0"/>
              <a:ea typeface="Microsoft JhengHei Light" panose="020B0304030504040204" pitchFamily="34" charset="-120"/>
              <a:cs typeface="Times New Roman" panose="02020603050405020304" pitchFamily="18" charset="0"/>
            </a:endParaRPr>
          </a:p>
          <a:p>
            <a:pPr marL="342900" lvl="0" indent="-342900">
              <a:buAutoNum type="arabicPeriod"/>
            </a:pPr>
            <a:r>
              <a:rPr sz="1600" b="1" dirty="0">
                <a:latin typeface="Times New Roman" panose="02020603050405020304" pitchFamily="18" charset="0"/>
                <a:ea typeface="Microsoft JhengHei Light" panose="020B0304030504040204" pitchFamily="34" charset="-120"/>
                <a:cs typeface="Times New Roman" panose="02020603050405020304" pitchFamily="18" charset="0"/>
              </a:rPr>
              <a:t>Cloudflare Access (</a:t>
            </a:r>
            <a:r>
              <a:rPr lang="en-US" sz="1600" b="1" dirty="0" err="1">
                <a:latin typeface="Times New Roman" panose="02020603050405020304" pitchFamily="18" charset="0"/>
                <a:ea typeface="Microsoft JhengHei Light" panose="020B0304030504040204" pitchFamily="34" charset="-120"/>
                <a:cs typeface="Times New Roman" panose="02020603050405020304" pitchFamily="18" charset="0"/>
              </a:rPr>
              <a:t>kiểm</a:t>
            </a:r>
            <a:r>
              <a:rPr lang="en-US" sz="16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b="1" dirty="0" err="1">
                <a:latin typeface="Times New Roman" panose="02020603050405020304" pitchFamily="18" charset="0"/>
                <a:ea typeface="Microsoft JhengHei Light" panose="020B0304030504040204" pitchFamily="34" charset="-120"/>
                <a:cs typeface="Times New Roman" panose="02020603050405020304" pitchFamily="18" charset="0"/>
              </a:rPr>
              <a:t>soát</a:t>
            </a:r>
            <a:r>
              <a:rPr lang="en-US" sz="16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b="1" dirty="0" err="1">
                <a:latin typeface="Times New Roman" panose="02020603050405020304" pitchFamily="18" charset="0"/>
                <a:ea typeface="Microsoft JhengHei Light" panose="020B0304030504040204" pitchFamily="34" charset="-120"/>
                <a:cs typeface="Times New Roman" panose="02020603050405020304" pitchFamily="18" charset="0"/>
              </a:rPr>
              <a:t>truy</a:t>
            </a:r>
            <a:r>
              <a:rPr lang="en-US" sz="16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b="1" dirty="0" err="1">
                <a:latin typeface="Times New Roman" panose="02020603050405020304" pitchFamily="18" charset="0"/>
                <a:ea typeface="Microsoft JhengHei Light" panose="020B0304030504040204" pitchFamily="34" charset="-120"/>
                <a:cs typeface="Times New Roman" panose="02020603050405020304" pitchFamily="18" charset="0"/>
              </a:rPr>
              <a:t>cập</a:t>
            </a:r>
            <a:r>
              <a:rPr sz="1600" b="1" dirty="0">
                <a:latin typeface="Times New Roman" panose="02020603050405020304" pitchFamily="18" charset="0"/>
                <a:ea typeface="Microsoft JhengHei Light" panose="020B0304030504040204" pitchFamily="34" charset="-120"/>
                <a:cs typeface="Times New Roman" panose="02020603050405020304" pitchFamily="18" charset="0"/>
              </a:rPr>
              <a:t>):</a:t>
            </a:r>
          </a:p>
          <a:p>
            <a:pPr lvl="1"/>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Mục</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đích</a:t>
            </a:r>
            <a:r>
              <a:rPr sz="1400" b="1" dirty="0" err="1">
                <a:latin typeface="Times New Roman" panose="02020603050405020304" pitchFamily="18" charset="0"/>
                <a:ea typeface="Microsoft JhengHei Light" panose="020B0304030504040204" pitchFamily="34" charset="-120"/>
                <a:cs typeface="Times New Roman" panose="02020603050405020304" pitchFamily="18" charset="0"/>
              </a:rPr>
              <a:t>：</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thực</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hiện</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xác</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thực</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danh</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tính</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và</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phân</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quyền</a:t>
            </a:r>
            <a:endParaRPr sz="1400" dirty="0">
              <a:latin typeface="Times New Roman" panose="02020603050405020304" pitchFamily="18" charset="0"/>
              <a:ea typeface="Microsoft JhengHei Light" panose="020B0304030504040204" pitchFamily="34" charset="-120"/>
              <a:cs typeface="Times New Roman" panose="02020603050405020304" pitchFamily="18" charset="0"/>
            </a:endParaRPr>
          </a:p>
          <a:p>
            <a:pPr lvl="1"/>
            <a:r>
              <a:rPr lang="vi-VN" sz="1400" b="1" dirty="0">
                <a:latin typeface="Times New Roman" panose="02020603050405020304" pitchFamily="18" charset="0"/>
                <a:ea typeface="Microsoft JhengHei Light" panose="020B0304030504040204" pitchFamily="34" charset="-120"/>
                <a:cs typeface="Times New Roman" panose="02020603050405020304" pitchFamily="18" charset="0"/>
              </a:rPr>
              <a:t>Ư</a:t>
            </a:r>
            <a:r>
              <a:rPr lang="en-US" sz="1400" b="1" dirty="0">
                <a:latin typeface="Times New Roman" panose="02020603050405020304" pitchFamily="18" charset="0"/>
                <a:ea typeface="Microsoft JhengHei Light" panose="020B0304030504040204" pitchFamily="34" charset="-120"/>
                <a:cs typeface="Times New Roman" panose="02020603050405020304" pitchFamily="18" charset="0"/>
              </a:rPr>
              <a:t>u </a:t>
            </a:r>
            <a:r>
              <a:rPr lang="en-US" sz="1400" b="1" dirty="0" err="1">
                <a:latin typeface="Times New Roman" panose="02020603050405020304" pitchFamily="18" charset="0"/>
                <a:ea typeface="Microsoft JhengHei Light" panose="020B0304030504040204" pitchFamily="34" charset="-120"/>
                <a:cs typeface="Times New Roman" panose="02020603050405020304" pitchFamily="18" charset="0"/>
              </a:rPr>
              <a:t>điểm</a:t>
            </a:r>
            <a:r>
              <a:rPr sz="1400" b="1" dirty="0">
                <a:latin typeface="Times New Roman" panose="02020603050405020304" pitchFamily="18" charset="0"/>
                <a:ea typeface="Microsoft JhengHei Light" panose="020B0304030504040204" pitchFamily="34" charset="-120"/>
                <a:cs typeface="Times New Roman" panose="02020603050405020304" pitchFamily="18" charset="0"/>
              </a:rPr>
              <a:t>：</a:t>
            </a:r>
            <a:r>
              <a:rPr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áp</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dụng</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chính</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sách</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truy</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cập</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chi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tiết</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cho</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UOF/PLM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đảm</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bảo</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nhân</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viên</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cấp</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quyền</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mới</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có</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thể</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truy</a:t>
            </a:r>
            <a:r>
              <a:rPr lang="en-US" sz="14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Light" panose="020B0304030504040204" pitchFamily="34" charset="-120"/>
                <a:cs typeface="Times New Roman" panose="02020603050405020304" pitchFamily="18" charset="0"/>
              </a:rPr>
              <a:t>cập</a:t>
            </a:r>
            <a:endParaRPr sz="1400" dirty="0">
              <a:latin typeface="Times New Roman" panose="02020603050405020304" pitchFamily="18" charset="0"/>
              <a:ea typeface="Microsoft JhengHei Light" panose="020B0304030504040204" pitchFamily="34" charset="-12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017"/>
            <a:ext cx="8229600" cy="857250"/>
          </a:xfrm>
        </p:spPr>
        <p:txBody>
          <a:bodyPr>
            <a:normAutofit fontScale="90000"/>
          </a:bodyPr>
          <a:lstStyle/>
          <a:p>
            <a:pPr marL="0" lvl="0" indent="0">
              <a:buNone/>
            </a:pPr>
            <a:r>
              <a:rPr sz="3200" b="1" dirty="0">
                <a:latin typeface="Times New Roman" panose="02020603050405020304" pitchFamily="18" charset="0"/>
                <a:cs typeface="Times New Roman" panose="02020603050405020304" pitchFamily="18" charset="0"/>
              </a:rPr>
              <a:t>6</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Triển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khai</a:t>
            </a:r>
            <a:r>
              <a:rPr lang="en-US" sz="3200" b="1" dirty="0">
                <a:latin typeface="Times New Roman" panose="02020603050405020304" pitchFamily="18" charset="0"/>
                <a:cs typeface="Times New Roman" panose="02020603050405020304" pitchFamily="18" charset="0"/>
              </a:rPr>
              <a:t> chi </a:t>
            </a:r>
            <a:r>
              <a:rPr lang="en-US" sz="3200" b="1" dirty="0" err="1">
                <a:latin typeface="Times New Roman" panose="02020603050405020304" pitchFamily="18" charset="0"/>
                <a:cs typeface="Times New Roman" panose="02020603050405020304" pitchFamily="18" charset="0"/>
              </a:rPr>
              <a:t>tiết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các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ứng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dụng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quan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trọng</a:t>
            </a:r>
            <a:r>
              <a:rPr sz="3200" b="1" dirty="0">
                <a:latin typeface="Times New Roman" panose="02020603050405020304" pitchFamily="18" charset="0"/>
                <a:cs typeface="Times New Roman" panose="02020603050405020304" pitchFamily="18" charset="0"/>
              </a:rPr>
              <a:t> (How It Works)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943871338"/>
              </p:ext>
            </p:extLst>
          </p:nvPr>
        </p:nvGraphicFramePr>
        <p:xfrm>
          <a:off x="457200" y="960481"/>
          <a:ext cx="8229600" cy="3663124"/>
        </p:xfrm>
        <a:graphic>
          <a:graphicData uri="http://schemas.openxmlformats.org/drawingml/2006/table">
            <a:tbl>
              <a:tblPr firstRow="1" bandRow="1">
                <a:tableStyleId>{5C22544A-7EE6-4342-B048-85BDC9FD1C3A}</a:tableStyleId>
              </a:tblPr>
              <a:tblGrid>
                <a:gridCol w="1202267">
                  <a:extLst>
                    <a:ext uri="{9D8B030D-6E8A-4147-A177-3AD203B41FA5}">
                      <a16:colId xmlns:a16="http://schemas.microsoft.com/office/drawing/2014/main" val="20000"/>
                    </a:ext>
                  </a:extLst>
                </a:gridCol>
                <a:gridCol w="1749777">
                  <a:extLst>
                    <a:ext uri="{9D8B030D-6E8A-4147-A177-3AD203B41FA5}">
                      <a16:colId xmlns:a16="http://schemas.microsoft.com/office/drawing/2014/main" val="20001"/>
                    </a:ext>
                  </a:extLst>
                </a:gridCol>
                <a:gridCol w="2404534">
                  <a:extLst>
                    <a:ext uri="{9D8B030D-6E8A-4147-A177-3AD203B41FA5}">
                      <a16:colId xmlns:a16="http://schemas.microsoft.com/office/drawing/2014/main" val="20002"/>
                    </a:ext>
                  </a:extLst>
                </a:gridCol>
                <a:gridCol w="2873022">
                  <a:extLst>
                    <a:ext uri="{9D8B030D-6E8A-4147-A177-3AD203B41FA5}">
                      <a16:colId xmlns:a16="http://schemas.microsoft.com/office/drawing/2014/main" val="20003"/>
                    </a:ext>
                  </a:extLst>
                </a:gridCol>
              </a:tblGrid>
              <a:tr h="469893">
                <a:tc>
                  <a:txBody>
                    <a:bodyPr/>
                    <a:lstStyle/>
                    <a:p>
                      <a:pPr marL="0" lvl="0" indent="0" algn="l">
                        <a:buNone/>
                      </a:pP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Hệ</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thống</a:t>
                      </a:r>
                      <a:endParaRPr sz="1600" dirty="0">
                        <a:latin typeface="Times New Roman" panose="02020603050405020304" pitchFamily="18" charset="0"/>
                        <a:ea typeface="Microsoft JhengHei Light" panose="020B0304030504040204" pitchFamily="34" charset="-120"/>
                        <a:cs typeface="Times New Roman" panose="02020603050405020304" pitchFamily="18" charset="0"/>
                      </a:endParaRPr>
                    </a:p>
                  </a:txBody>
                  <a:tcPr/>
                </a:tc>
                <a:tc>
                  <a:txBody>
                    <a:bodyPr/>
                    <a:lstStyle/>
                    <a:p>
                      <a:pPr marL="0" lvl="0" indent="0" algn="l">
                        <a:buNone/>
                      </a:pP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Loại</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ứng</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dụng</a:t>
                      </a:r>
                      <a:endParaRPr sz="1600" dirty="0">
                        <a:latin typeface="Times New Roman" panose="02020603050405020304" pitchFamily="18" charset="0"/>
                        <a:ea typeface="Microsoft JhengHei Light" panose="020B0304030504040204" pitchFamily="34" charset="-120"/>
                        <a:cs typeface="Times New Roman" panose="02020603050405020304" pitchFamily="18" charset="0"/>
                      </a:endParaRPr>
                    </a:p>
                  </a:txBody>
                  <a:tcPr/>
                </a:tc>
                <a:tc>
                  <a:txBody>
                    <a:bodyPr/>
                    <a:lstStyle/>
                    <a:p>
                      <a:pPr marL="0" lvl="0" indent="0" algn="l">
                        <a:buNone/>
                      </a:pP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Giải</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pháp</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sz="1600" dirty="0">
                          <a:latin typeface="Times New Roman" panose="02020603050405020304" pitchFamily="18" charset="0"/>
                          <a:ea typeface="Microsoft JhengHei Light" panose="020B0304030504040204" pitchFamily="34" charset="-120"/>
                          <a:cs typeface="Times New Roman" panose="02020603050405020304" pitchFamily="18" charset="0"/>
                        </a:rPr>
                        <a:t>Cloudflare </a:t>
                      </a:r>
                    </a:p>
                  </a:txBody>
                  <a:tcPr/>
                </a:tc>
                <a:tc>
                  <a:txBody>
                    <a:bodyPr/>
                    <a:lstStyle/>
                    <a:p>
                      <a:pPr marL="0" lvl="0" indent="0" algn="l">
                        <a:buNone/>
                      </a:pP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Phương</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thức</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truy</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cập</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từ</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xa</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của</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cán</a:t>
                      </a:r>
                      <a:r>
                        <a:rPr lang="en-US" sz="16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600" dirty="0" err="1">
                          <a:latin typeface="Times New Roman" panose="02020603050405020304" pitchFamily="18" charset="0"/>
                          <a:ea typeface="Microsoft JhengHei Light" panose="020B0304030504040204" pitchFamily="34" charset="-120"/>
                          <a:cs typeface="Times New Roman" panose="02020603050405020304" pitchFamily="18" charset="0"/>
                        </a:rPr>
                        <a:t>bộ</a:t>
                      </a:r>
                      <a:endParaRPr sz="1600" dirty="0">
                        <a:latin typeface="Times New Roman" panose="02020603050405020304" pitchFamily="18" charset="0"/>
                        <a:ea typeface="Microsoft JhengHei Light" panose="020B0304030504040204" pitchFamily="34" charset="-120"/>
                        <a:cs typeface="Times New Roman" panose="02020603050405020304" pitchFamily="18" charset="0"/>
                      </a:endParaRPr>
                    </a:p>
                  </a:txBody>
                  <a:tcPr/>
                </a:tc>
                <a:extLst>
                  <a:ext uri="{0D108BD9-81ED-4DB2-BD59-A6C34878D82A}">
                    <a16:rowId xmlns:a16="http://schemas.microsoft.com/office/drawing/2014/main" val="10000"/>
                  </a:ext>
                </a:extLst>
              </a:tr>
              <a:tr h="981932">
                <a:tc>
                  <a:txBody>
                    <a:bodyPr/>
                    <a:lstStyle/>
                    <a:p>
                      <a:pPr marL="0" lvl="0" indent="0" algn="l">
                        <a:buNone/>
                      </a:pPr>
                      <a:r>
                        <a:rPr b="1" dirty="0">
                          <a:latin typeface="Times New Roman" panose="02020603050405020304" pitchFamily="18" charset="0"/>
                          <a:ea typeface="Microsoft JhengHei Light" panose="020B0304030504040204" pitchFamily="34" charset="-120"/>
                          <a:cs typeface="Times New Roman" panose="02020603050405020304" pitchFamily="18" charset="0"/>
                        </a:rPr>
                        <a:t>UOF (EIP)</a:t>
                      </a:r>
                    </a:p>
                  </a:txBody>
                  <a:tcPr/>
                </a:tc>
                <a:tc>
                  <a:txBody>
                    <a:bodyPr/>
                    <a:lstStyle/>
                    <a:p>
                      <a:pPr marL="0" lvl="0" indent="0" algn="l">
                        <a:buNone/>
                      </a:pP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Ứng</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dụng</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website</a:t>
                      </a:r>
                      <a:r>
                        <a:rPr dirty="0">
                          <a:latin typeface="Times New Roman" panose="02020603050405020304" pitchFamily="18" charset="0"/>
                          <a:ea typeface="Microsoft JhengHei Light" panose="020B0304030504040204" pitchFamily="34" charset="-120"/>
                          <a:cs typeface="Times New Roman" panose="02020603050405020304" pitchFamily="18" charset="0"/>
                        </a:rPr>
                        <a:t> (Web)</a:t>
                      </a:r>
                    </a:p>
                  </a:txBody>
                  <a:tcPr/>
                </a:tc>
                <a:tc>
                  <a:txBody>
                    <a:bodyPr/>
                    <a:lstStyle/>
                    <a:p>
                      <a:pPr marL="0" lvl="0" indent="0" algn="l">
                        <a:buNone/>
                      </a:pPr>
                      <a:r>
                        <a:rPr dirty="0">
                          <a:latin typeface="Times New Roman" panose="02020603050405020304" pitchFamily="18" charset="0"/>
                          <a:ea typeface="Microsoft JhengHei Light" panose="020B0304030504040204" pitchFamily="34" charset="-120"/>
                          <a:cs typeface="Times New Roman" panose="02020603050405020304" pitchFamily="18" charset="0"/>
                        </a:rPr>
                        <a:t>Tunnel + Access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xác</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thực</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dirty="0">
                          <a:latin typeface="Times New Roman" panose="02020603050405020304" pitchFamily="18" charset="0"/>
                          <a:ea typeface="Microsoft JhengHei Light" panose="020B0304030504040204" pitchFamily="34" charset="-120"/>
                          <a:cs typeface="Times New Roman" panose="02020603050405020304" pitchFamily="18" charset="0"/>
                        </a:rPr>
                        <a:t>OTP)</a:t>
                      </a:r>
                    </a:p>
                  </a:txBody>
                  <a:tcPr/>
                </a:tc>
                <a:tc>
                  <a:txBody>
                    <a:bodyPr/>
                    <a:lstStyle/>
                    <a:p>
                      <a:pPr marL="0" lvl="0" indent="0" algn="l">
                        <a:buNone/>
                      </a:pP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Ở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máy</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tính</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điện</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thoại</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mởi</a:t>
                      </a:r>
                      <a:r>
                        <a:rPr b="1" dirty="0">
                          <a:latin typeface="Times New Roman" panose="02020603050405020304" pitchFamily="18" charset="0"/>
                          <a:ea typeface="Microsoft JhengHei Light" panose="020B0304030504040204" pitchFamily="34" charset="-120"/>
                          <a:cs typeface="Times New Roman" panose="02020603050405020304" pitchFamily="18" charset="0"/>
                        </a:rPr>
                        <a:t> WARP</a:t>
                      </a:r>
                      <a:r>
                        <a:rPr dirty="0">
                          <a:latin typeface="Times New Roman" panose="02020603050405020304" pitchFamily="18" charset="0"/>
                          <a:ea typeface="Microsoft JhengHei Light" panose="020B0304030504040204" pitchFamily="34" charset="-120"/>
                          <a:cs typeface="Times New Roman" panose="02020603050405020304" pitchFamily="18" charset="0"/>
                        </a:rPr>
                        <a:t> </a:t>
                      </a:r>
                      <a:br>
                        <a:rPr lang="en-US" dirty="0">
                          <a:latin typeface="Times New Roman" panose="02020603050405020304" pitchFamily="18" charset="0"/>
                          <a:ea typeface="Microsoft JhengHei Light" panose="020B0304030504040204" pitchFamily="34" charset="-120"/>
                          <a:cs typeface="Times New Roman" panose="02020603050405020304" pitchFamily="18" charset="0"/>
                        </a:rPr>
                      </a:br>
                      <a:r>
                        <a:rPr dirty="0">
                          <a:latin typeface="Times New Roman" panose="02020603050405020304" pitchFamily="18" charset="0"/>
                          <a:ea typeface="Microsoft JhengHei Light" panose="020B0304030504040204" pitchFamily="34" charset="-120"/>
                          <a:cs typeface="Times New Roman" panose="02020603050405020304" pitchFamily="18" charset="0"/>
                        </a:rPr>
                        <a:t>–&gt;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trên</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trình</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duyệt</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nhập</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địa</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chỉ</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web</a:t>
                      </a:r>
                      <a:br>
                        <a:rPr lang="en-US" dirty="0">
                          <a:latin typeface="Times New Roman" panose="02020603050405020304" pitchFamily="18" charset="0"/>
                          <a:ea typeface="Microsoft JhengHei Light" panose="020B0304030504040204" pitchFamily="34" charset="-120"/>
                          <a:cs typeface="Times New Roman" panose="02020603050405020304" pitchFamily="18" charset="0"/>
                        </a:rPr>
                      </a:br>
                      <a:r>
                        <a:rPr b="1" dirty="0">
                          <a:latin typeface="Times New Roman" panose="02020603050405020304" pitchFamily="18" charset="0"/>
                          <a:ea typeface="Microsoft JhengHei Light" panose="020B0304030504040204" pitchFamily="34" charset="-120"/>
                          <a:cs typeface="Times New Roman" panose="02020603050405020304" pitchFamily="18" charset="0"/>
                        </a:rPr>
                        <a:t>–&gt;</a:t>
                      </a:r>
                      <a:r>
                        <a:rPr lang="en-US"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b="1" dirty="0" err="1">
                          <a:latin typeface="Times New Roman" panose="02020603050405020304" pitchFamily="18" charset="0"/>
                          <a:ea typeface="Microsoft JhengHei Light" panose="020B0304030504040204" pitchFamily="34" charset="-120"/>
                          <a:cs typeface="Times New Roman" panose="02020603050405020304" pitchFamily="18" charset="0"/>
                        </a:rPr>
                        <a:t>Xác</a:t>
                      </a:r>
                      <a:r>
                        <a:rPr lang="en-US"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b="1" dirty="0" err="1">
                          <a:latin typeface="Times New Roman" panose="02020603050405020304" pitchFamily="18" charset="0"/>
                          <a:ea typeface="Microsoft JhengHei Light" panose="020B0304030504040204" pitchFamily="34" charset="-120"/>
                          <a:cs typeface="Times New Roman" panose="02020603050405020304" pitchFamily="18" charset="0"/>
                        </a:rPr>
                        <a:t>thực</a:t>
                      </a:r>
                      <a:r>
                        <a:rPr lang="en-US" b="1" dirty="0">
                          <a:latin typeface="Times New Roman" panose="02020603050405020304" pitchFamily="18" charset="0"/>
                          <a:ea typeface="Microsoft JhengHei Light" panose="020B0304030504040204" pitchFamily="34" charset="-120"/>
                          <a:cs typeface="Times New Roman" panose="02020603050405020304" pitchFamily="18" charset="0"/>
                        </a:rPr>
                        <a:t> OTP qua mail</a:t>
                      </a:r>
                      <a:br>
                        <a:rPr lang="en-US" dirty="0">
                          <a:latin typeface="Times New Roman" panose="02020603050405020304" pitchFamily="18" charset="0"/>
                          <a:ea typeface="Microsoft JhengHei Light" panose="020B0304030504040204" pitchFamily="34" charset="-120"/>
                          <a:cs typeface="Times New Roman" panose="02020603050405020304" pitchFamily="18" charset="0"/>
                        </a:rPr>
                      </a:br>
                      <a:r>
                        <a:rPr dirty="0">
                          <a:latin typeface="Times New Roman" panose="02020603050405020304" pitchFamily="18" charset="0"/>
                          <a:ea typeface="Microsoft JhengHei Light" panose="020B0304030504040204" pitchFamily="34" charset="-120"/>
                          <a:cs typeface="Times New Roman" panose="02020603050405020304" pitchFamily="18" charset="0"/>
                        </a:rPr>
                        <a:t>–&gt;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truy</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cập</a:t>
                      </a:r>
                      <a:endParaRPr dirty="0">
                        <a:latin typeface="Times New Roman" panose="02020603050405020304" pitchFamily="18" charset="0"/>
                        <a:ea typeface="Microsoft JhengHei Light" panose="020B0304030504040204" pitchFamily="34" charset="-120"/>
                        <a:cs typeface="Times New Roman" panose="02020603050405020304" pitchFamily="18" charset="0"/>
                      </a:endParaRPr>
                    </a:p>
                  </a:txBody>
                  <a:tcPr/>
                </a:tc>
                <a:extLst>
                  <a:ext uri="{0D108BD9-81ED-4DB2-BD59-A6C34878D82A}">
                    <a16:rowId xmlns:a16="http://schemas.microsoft.com/office/drawing/2014/main" val="10001"/>
                  </a:ext>
                </a:extLst>
              </a:tr>
              <a:tr h="981932">
                <a:tc>
                  <a:txBody>
                    <a:bodyPr/>
                    <a:lstStyle/>
                    <a:p>
                      <a:pPr marL="0" lvl="0" indent="0" algn="l">
                        <a:buNone/>
                      </a:pPr>
                      <a:r>
                        <a:rPr b="1">
                          <a:latin typeface="Times New Roman" panose="02020603050405020304" pitchFamily="18" charset="0"/>
                          <a:ea typeface="Microsoft JhengHei Light" panose="020B0304030504040204" pitchFamily="34" charset="-120"/>
                          <a:cs typeface="Times New Roman" panose="02020603050405020304" pitchFamily="18" charset="0"/>
                        </a:rPr>
                        <a:t>PLM</a:t>
                      </a:r>
                    </a:p>
                  </a:txBody>
                  <a:tcPr/>
                </a:tc>
                <a:tc>
                  <a:txBody>
                    <a:bodyPr/>
                    <a:lstStyle/>
                    <a:p>
                      <a:pPr marL="0" lvl="0" indent="0" algn="l">
                        <a:buNone/>
                      </a:pP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Ứng</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dụng</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website</a:t>
                      </a:r>
                      <a:r>
                        <a:rPr dirty="0">
                          <a:latin typeface="Times New Roman" panose="02020603050405020304" pitchFamily="18" charset="0"/>
                          <a:ea typeface="Microsoft JhengHei Light" panose="020B0304030504040204" pitchFamily="34" charset="-120"/>
                          <a:cs typeface="Times New Roman" panose="02020603050405020304" pitchFamily="18" charset="0"/>
                        </a:rPr>
                        <a:t> (Web)</a:t>
                      </a:r>
                    </a:p>
                  </a:txBody>
                  <a:tcPr/>
                </a:tc>
                <a:tc>
                  <a:txBody>
                    <a:bodyPr/>
                    <a:lstStyle/>
                    <a:p>
                      <a:pPr marL="0" lvl="0" indent="0" algn="l">
                        <a:buNone/>
                      </a:pPr>
                      <a:r>
                        <a:rPr dirty="0">
                          <a:latin typeface="Times New Roman" panose="02020603050405020304" pitchFamily="18" charset="0"/>
                          <a:ea typeface="Microsoft JhengHei Light" panose="020B0304030504040204" pitchFamily="34" charset="-120"/>
                          <a:cs typeface="Times New Roman" panose="02020603050405020304" pitchFamily="18" charset="0"/>
                        </a:rPr>
                        <a:t>Tunnel + Access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xác</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thực</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dirty="0">
                          <a:latin typeface="Times New Roman" panose="02020603050405020304" pitchFamily="18" charset="0"/>
                          <a:ea typeface="Microsoft JhengHei Light" panose="020B0304030504040204" pitchFamily="34" charset="-120"/>
                          <a:cs typeface="Times New Roman" panose="02020603050405020304" pitchFamily="18" charset="0"/>
                        </a:rPr>
                        <a:t>OTP)</a:t>
                      </a:r>
                    </a:p>
                  </a:txBody>
                  <a:tcPr/>
                </a:tc>
                <a:tc>
                  <a:txBody>
                    <a:bodyPr/>
                    <a:lstStyle/>
                    <a:p>
                      <a:pPr marL="0" lvl="0" indent="0" algn="l">
                        <a:buNone/>
                      </a:pP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Ở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máy</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tính</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điện</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thoại</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mởi</a:t>
                      </a:r>
                      <a:r>
                        <a:rPr lang="en-US" b="1" dirty="0">
                          <a:latin typeface="Times New Roman" panose="02020603050405020304" pitchFamily="18" charset="0"/>
                          <a:ea typeface="Microsoft JhengHei Light" panose="020B0304030504040204" pitchFamily="34" charset="-120"/>
                          <a:cs typeface="Times New Roman" panose="02020603050405020304" pitchFamily="18" charset="0"/>
                        </a:rPr>
                        <a:t> WARP</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br>
                        <a:rPr lang="en-US" dirty="0">
                          <a:latin typeface="Times New Roman" panose="02020603050405020304" pitchFamily="18" charset="0"/>
                          <a:ea typeface="Microsoft JhengHei Light" panose="020B0304030504040204" pitchFamily="34" charset="-120"/>
                          <a:cs typeface="Times New Roman" panose="02020603050405020304" pitchFamily="18" charset="0"/>
                        </a:rPr>
                      </a:b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–&gt;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trên</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trình</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duyệt</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nhập</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địa</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chỉ</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web</a:t>
                      </a:r>
                      <a:br>
                        <a:rPr lang="en-US" dirty="0">
                          <a:latin typeface="Times New Roman" panose="02020603050405020304" pitchFamily="18" charset="0"/>
                          <a:ea typeface="Microsoft JhengHei Light" panose="020B0304030504040204" pitchFamily="34" charset="-120"/>
                          <a:cs typeface="Times New Roman" panose="02020603050405020304" pitchFamily="18" charset="0"/>
                        </a:rPr>
                      </a:br>
                      <a:r>
                        <a:rPr lang="en-US" b="1" dirty="0">
                          <a:latin typeface="Times New Roman" panose="02020603050405020304" pitchFamily="18" charset="0"/>
                          <a:ea typeface="Microsoft JhengHei Light" panose="020B0304030504040204" pitchFamily="34" charset="-120"/>
                          <a:cs typeface="Times New Roman" panose="02020603050405020304" pitchFamily="18" charset="0"/>
                        </a:rPr>
                        <a:t>–&gt; </a:t>
                      </a:r>
                      <a:r>
                        <a:rPr lang="en-US" b="1" dirty="0" err="1">
                          <a:latin typeface="Times New Roman" panose="02020603050405020304" pitchFamily="18" charset="0"/>
                          <a:ea typeface="Microsoft JhengHei Light" panose="020B0304030504040204" pitchFamily="34" charset="-120"/>
                          <a:cs typeface="Times New Roman" panose="02020603050405020304" pitchFamily="18" charset="0"/>
                        </a:rPr>
                        <a:t>Xác</a:t>
                      </a:r>
                      <a:r>
                        <a:rPr lang="en-US"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b="1" dirty="0" err="1">
                          <a:latin typeface="Times New Roman" panose="02020603050405020304" pitchFamily="18" charset="0"/>
                          <a:ea typeface="Microsoft JhengHei Light" panose="020B0304030504040204" pitchFamily="34" charset="-120"/>
                          <a:cs typeface="Times New Roman" panose="02020603050405020304" pitchFamily="18" charset="0"/>
                        </a:rPr>
                        <a:t>thực</a:t>
                      </a:r>
                      <a:r>
                        <a:rPr lang="en-US" b="1" dirty="0">
                          <a:latin typeface="Times New Roman" panose="02020603050405020304" pitchFamily="18" charset="0"/>
                          <a:ea typeface="Microsoft JhengHei Light" panose="020B0304030504040204" pitchFamily="34" charset="-120"/>
                          <a:cs typeface="Times New Roman" panose="02020603050405020304" pitchFamily="18" charset="0"/>
                        </a:rPr>
                        <a:t> OTP qua mail</a:t>
                      </a:r>
                      <a:br>
                        <a:rPr lang="en-US" dirty="0">
                          <a:latin typeface="Times New Roman" panose="02020603050405020304" pitchFamily="18" charset="0"/>
                          <a:ea typeface="Microsoft JhengHei Light" panose="020B0304030504040204" pitchFamily="34" charset="-120"/>
                          <a:cs typeface="Times New Roman" panose="02020603050405020304" pitchFamily="18" charset="0"/>
                        </a:rPr>
                      </a:b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–&gt;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truy</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cập</a:t>
                      </a:r>
                      <a:endParaRPr lang="en-US" dirty="0">
                        <a:latin typeface="Times New Roman" panose="02020603050405020304" pitchFamily="18" charset="0"/>
                        <a:ea typeface="Microsoft JhengHei Light" panose="020B0304030504040204" pitchFamily="34" charset="-120"/>
                        <a:cs typeface="Times New Roman" panose="02020603050405020304" pitchFamily="18" charset="0"/>
                      </a:endParaRPr>
                    </a:p>
                  </a:txBody>
                  <a:tcPr/>
                </a:tc>
                <a:extLst>
                  <a:ext uri="{0D108BD9-81ED-4DB2-BD59-A6C34878D82A}">
                    <a16:rowId xmlns:a16="http://schemas.microsoft.com/office/drawing/2014/main" val="10002"/>
                  </a:ext>
                </a:extLst>
              </a:tr>
              <a:tr h="760998">
                <a:tc>
                  <a:txBody>
                    <a:bodyPr/>
                    <a:lstStyle/>
                    <a:p>
                      <a:pPr marL="0" lvl="0" indent="0" algn="l">
                        <a:buNone/>
                      </a:pPr>
                      <a:r>
                        <a:rPr b="1" dirty="0">
                          <a:latin typeface="Times New Roman" panose="02020603050405020304" pitchFamily="18" charset="0"/>
                          <a:ea typeface="Microsoft JhengHei Light" panose="020B0304030504040204" pitchFamily="34" charset="-120"/>
                          <a:cs typeface="Times New Roman" panose="02020603050405020304" pitchFamily="18" charset="0"/>
                        </a:rPr>
                        <a:t>ERP</a:t>
                      </a:r>
                    </a:p>
                  </a:txBody>
                  <a:tcPr/>
                </a:tc>
                <a:tc>
                  <a:txBody>
                    <a:bodyPr/>
                    <a:lstStyle/>
                    <a:p>
                      <a:pPr marL="0" lvl="0" indent="0" algn="l">
                        <a:buNone/>
                      </a:pP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Ứng</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dụng</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khách</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chuyên</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dụng</a:t>
                      </a:r>
                      <a:endParaRPr dirty="0">
                        <a:latin typeface="Times New Roman" panose="02020603050405020304" pitchFamily="18" charset="0"/>
                        <a:ea typeface="Microsoft JhengHei Light" panose="020B0304030504040204" pitchFamily="34" charset="-120"/>
                        <a:cs typeface="Times New Roman" panose="02020603050405020304" pitchFamily="18" charset="0"/>
                      </a:endParaRPr>
                    </a:p>
                  </a:txBody>
                  <a:tcPr/>
                </a:tc>
                <a:tc>
                  <a:txBody>
                    <a:bodyPr/>
                    <a:lstStyle/>
                    <a:p>
                      <a:pPr marL="0" lvl="0" indent="0" algn="l">
                        <a:buNone/>
                      </a:pPr>
                      <a:r>
                        <a:rPr dirty="0">
                          <a:latin typeface="Times New Roman" panose="02020603050405020304" pitchFamily="18" charset="0"/>
                          <a:ea typeface="Microsoft JhengHei Light" panose="020B0304030504040204" pitchFamily="34" charset="-120"/>
                          <a:cs typeface="Times New Roman" panose="02020603050405020304" pitchFamily="18" charset="0"/>
                        </a:rPr>
                        <a:t>WARP + Private Routing</a:t>
                      </a:r>
                    </a:p>
                  </a:txBody>
                  <a:tcPr/>
                </a:tc>
                <a:tc>
                  <a:txBody>
                    <a:bodyPr/>
                    <a:lstStyle/>
                    <a:p>
                      <a:pPr marL="0" lvl="0" indent="0" algn="l">
                        <a:buNone/>
                      </a:pP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Ở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trên</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máy</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tính</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mở</a:t>
                      </a:r>
                      <a:r>
                        <a:rPr b="1" dirty="0">
                          <a:latin typeface="Times New Roman" panose="02020603050405020304" pitchFamily="18" charset="0"/>
                          <a:ea typeface="Microsoft JhengHei Light" panose="020B0304030504040204" pitchFamily="34" charset="-120"/>
                          <a:cs typeface="Times New Roman" panose="02020603050405020304" pitchFamily="18" charset="0"/>
                        </a:rPr>
                        <a:t> WARP</a:t>
                      </a:r>
                      <a:r>
                        <a:rPr dirty="0">
                          <a:latin typeface="Times New Roman" panose="02020603050405020304" pitchFamily="18" charset="0"/>
                          <a:ea typeface="Microsoft JhengHei Light" panose="020B0304030504040204" pitchFamily="34" charset="-120"/>
                          <a:cs typeface="Times New Roman" panose="02020603050405020304" pitchFamily="18" charset="0"/>
                        </a:rPr>
                        <a:t> </a:t>
                      </a:r>
                      <a:br>
                        <a:rPr lang="en-US" dirty="0">
                          <a:latin typeface="Times New Roman" panose="02020603050405020304" pitchFamily="18" charset="0"/>
                          <a:ea typeface="Microsoft JhengHei Light" panose="020B0304030504040204" pitchFamily="34" charset="-120"/>
                          <a:cs typeface="Times New Roman" panose="02020603050405020304" pitchFamily="18" charset="0"/>
                        </a:rPr>
                      </a:br>
                      <a:r>
                        <a:rPr dirty="0">
                          <a:latin typeface="Times New Roman" panose="02020603050405020304" pitchFamily="18" charset="0"/>
                          <a:ea typeface="Microsoft JhengHei Light" panose="020B0304030504040204" pitchFamily="34" charset="-120"/>
                          <a:cs typeface="Times New Roman" panose="02020603050405020304" pitchFamily="18" charset="0"/>
                        </a:rPr>
                        <a:t>–&gt; </a:t>
                      </a:r>
                      <a:r>
                        <a:rPr lang="en-US" b="1" dirty="0" err="1">
                          <a:latin typeface="Times New Roman" panose="02020603050405020304" pitchFamily="18" charset="0"/>
                          <a:ea typeface="Microsoft JhengHei Light" panose="020B0304030504040204" pitchFamily="34" charset="-120"/>
                          <a:cs typeface="Times New Roman" panose="02020603050405020304" pitchFamily="18" charset="0"/>
                        </a:rPr>
                        <a:t>mở</a:t>
                      </a:r>
                      <a:r>
                        <a:rPr lang="en-US"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b="1" dirty="0" err="1">
                          <a:latin typeface="Times New Roman" panose="02020603050405020304" pitchFamily="18" charset="0"/>
                          <a:ea typeface="Microsoft JhengHei Light" panose="020B0304030504040204" pitchFamily="34" charset="-120"/>
                          <a:cs typeface="Times New Roman" panose="02020603050405020304" pitchFamily="18" charset="0"/>
                        </a:rPr>
                        <a:t>trực</a:t>
                      </a:r>
                      <a:r>
                        <a:rPr lang="en-US"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b="1" dirty="0" err="1">
                          <a:latin typeface="Times New Roman" panose="02020603050405020304" pitchFamily="18" charset="0"/>
                          <a:ea typeface="Microsoft JhengHei Light" panose="020B0304030504040204" pitchFamily="34" charset="-120"/>
                          <a:cs typeface="Times New Roman" panose="02020603050405020304" pitchFamily="18" charset="0"/>
                        </a:rPr>
                        <a:t>tiếp</a:t>
                      </a:r>
                      <a:r>
                        <a:rPr lang="en-US"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b="1" dirty="0" err="1">
                          <a:latin typeface="Times New Roman" panose="02020603050405020304" pitchFamily="18" charset="0"/>
                          <a:ea typeface="Microsoft JhengHei Light" panose="020B0304030504040204" pitchFamily="34" charset="-120"/>
                          <a:cs typeface="Times New Roman" panose="02020603050405020304" pitchFamily="18" charset="0"/>
                        </a:rPr>
                        <a:t>ứng</a:t>
                      </a:r>
                      <a:r>
                        <a:rPr lang="en-US"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b="1" dirty="0" err="1">
                          <a:latin typeface="Times New Roman" panose="02020603050405020304" pitchFamily="18" charset="0"/>
                          <a:ea typeface="Microsoft JhengHei Light" panose="020B0304030504040204" pitchFamily="34" charset="-120"/>
                          <a:cs typeface="Times New Roman" panose="02020603050405020304" pitchFamily="18" charset="0"/>
                        </a:rPr>
                        <a:t>dụng</a:t>
                      </a:r>
                      <a:r>
                        <a:rPr lang="en-US"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b="1" dirty="0" err="1">
                          <a:latin typeface="Times New Roman" panose="02020603050405020304" pitchFamily="18" charset="0"/>
                          <a:ea typeface="Microsoft JhengHei Light" panose="020B0304030504040204" pitchFamily="34" charset="-120"/>
                          <a:cs typeface="Times New Roman" panose="02020603050405020304" pitchFamily="18" charset="0"/>
                        </a:rPr>
                        <a:t>khách</a:t>
                      </a:r>
                      <a:r>
                        <a:rPr lang="en-US" b="1" dirty="0">
                          <a:latin typeface="Times New Roman" panose="02020603050405020304" pitchFamily="18" charset="0"/>
                          <a:ea typeface="Microsoft JhengHei Light" panose="020B0304030504040204" pitchFamily="34" charset="-120"/>
                          <a:cs typeface="Times New Roman" panose="02020603050405020304" pitchFamily="18" charset="0"/>
                        </a:rPr>
                        <a:t> ERP </a:t>
                      </a:r>
                      <a:br>
                        <a:rPr lang="en-US" b="1" dirty="0">
                          <a:latin typeface="Times New Roman" panose="02020603050405020304" pitchFamily="18" charset="0"/>
                          <a:ea typeface="Microsoft JhengHei Light" panose="020B0304030504040204" pitchFamily="34" charset="-120"/>
                          <a:cs typeface="Times New Roman" panose="02020603050405020304" pitchFamily="18" charset="0"/>
                        </a:rPr>
                      </a:br>
                      <a:r>
                        <a:rPr dirty="0">
                          <a:latin typeface="Times New Roman" panose="02020603050405020304" pitchFamily="18" charset="0"/>
                          <a:ea typeface="Microsoft JhengHei Light" panose="020B0304030504040204" pitchFamily="34" charset="-120"/>
                          <a:cs typeface="Times New Roman" panose="02020603050405020304" pitchFamily="18" charset="0"/>
                        </a:rPr>
                        <a:t>–&gt;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Phần</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mềm</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sẽ</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tự</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động</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kết</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nối</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đaiạ</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chỉ</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IP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nội</a:t>
                      </a:r>
                      <a:r>
                        <a:rPr lang="en-US"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dirty="0" err="1">
                          <a:latin typeface="Times New Roman" panose="02020603050405020304" pitchFamily="18" charset="0"/>
                          <a:ea typeface="Microsoft JhengHei Light" panose="020B0304030504040204" pitchFamily="34" charset="-120"/>
                          <a:cs typeface="Times New Roman" panose="02020603050405020304" pitchFamily="18" charset="0"/>
                        </a:rPr>
                        <a:t>bộ</a:t>
                      </a:r>
                      <a:endParaRPr dirty="0">
                        <a:latin typeface="Times New Roman" panose="02020603050405020304" pitchFamily="18" charset="0"/>
                        <a:ea typeface="Microsoft JhengHei Light" panose="020B0304030504040204" pitchFamily="34" charset="-12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
        <p:nvSpPr>
          <p:cNvPr id="3" name="Content Placeholder 2">
            <a:extLst>
              <a:ext uri="{FF2B5EF4-FFF2-40B4-BE49-F238E27FC236}">
                <a16:creationId xmlns:a16="http://schemas.microsoft.com/office/drawing/2014/main" id="{DD061800-DBCF-5789-8AE6-515B53D71C5C}"/>
              </a:ext>
            </a:extLst>
          </p:cNvPr>
          <p:cNvSpPr txBox="1">
            <a:spLocks/>
          </p:cNvSpPr>
          <p:nvPr/>
        </p:nvSpPr>
        <p:spPr>
          <a:xfrm>
            <a:off x="457200" y="4718221"/>
            <a:ext cx="8229600" cy="363658"/>
          </a:xfrm>
          <a:prstGeom prst="rect">
            <a:avLst/>
          </a:prstGeom>
        </p:spPr>
        <p:txBody>
          <a:bodyPr vert="horz" lIns="91440" tIns="45720" rIns="91440" bIns="45720" rtlCol="0">
            <a:normAutofit fontScale="85000" lnSpcReduction="10000"/>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Font typeface="Arial"/>
              <a:buNone/>
            </a:pPr>
            <a:r>
              <a:rPr lang="vi-VN" altLang="zh-TW" sz="1400" dirty="0">
                <a:latin typeface="+mj-lt"/>
                <a:ea typeface="Microsoft JhengHei Light" panose="020B0304030504040204" pitchFamily="34" charset="-120"/>
              </a:rPr>
              <a:t>Độ ổn định của kết nối ứng dụng khách chuyên dụng ERP sẽ được đảm bảo thông qua tính năng </a:t>
            </a:r>
            <a:r>
              <a:rPr lang="vi-VN" altLang="zh-TW" sz="1400" b="1" dirty="0">
                <a:latin typeface="+mj-lt"/>
                <a:ea typeface="Microsoft JhengHei Light" panose="020B0304030504040204" pitchFamily="34" charset="-120"/>
              </a:rPr>
              <a:t>Private Routing </a:t>
            </a:r>
            <a:r>
              <a:rPr lang="vi-VN" altLang="zh-TW" sz="1400" dirty="0">
                <a:latin typeface="+mj-lt"/>
                <a:ea typeface="Microsoft JhengHei Light" panose="020B0304030504040204" pitchFamily="34" charset="-120"/>
              </a:rPr>
              <a:t>của WARP.</a:t>
            </a:r>
            <a:endParaRPr lang="zh-TW" altLang="en-US" sz="1400" dirty="0">
              <a:latin typeface="+mj-lt"/>
              <a:ea typeface="Microsoft JhengHei Light" panose="020B0304030504040204" pitchFamily="34"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93964"/>
            <a:ext cx="8111066" cy="540616"/>
          </a:xfrm>
        </p:spPr>
        <p:txBody>
          <a:bodyPr>
            <a:normAutofit fontScale="90000"/>
          </a:bodyPr>
          <a:lstStyle/>
          <a:p>
            <a:pPr marL="0" lvl="0" indent="0">
              <a:buNone/>
            </a:pPr>
            <a:r>
              <a:rPr sz="3200" b="1" dirty="0">
                <a:latin typeface="Times New Roman" panose="02020603050405020304" pitchFamily="18" charset="0"/>
                <a:cs typeface="Times New Roman" panose="02020603050405020304" pitchFamily="18" charset="0"/>
              </a:rPr>
              <a:t>7</a:t>
            </a:r>
            <a:r>
              <a:rPr lang="en-US" sz="3200"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Ph</a:t>
            </a:r>
            <a:r>
              <a:rPr lang="en-US" sz="3200" dirty="0" err="1">
                <a:latin typeface="Times New Roman" panose="02020603050405020304" pitchFamily="18" charset="0"/>
                <a:cs typeface="Times New Roman" panose="02020603050405020304" pitchFamily="18" charset="0"/>
              </a:rPr>
              <a:t>ân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tích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ngân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chi </a:t>
            </a:r>
            <a:r>
              <a:rPr lang="en-US" sz="3200" dirty="0" err="1">
                <a:latin typeface="Times New Roman" panose="02020603050405020304" pitchFamily="18" charset="0"/>
                <a:cs typeface="Times New Roman" panose="02020603050405020304" pitchFamily="18" charset="0"/>
              </a:rPr>
              <a:t>phí</a:t>
            </a:r>
            <a:r>
              <a:rPr sz="3200" b="1" dirty="0">
                <a:latin typeface="Times New Roman" panose="02020603050405020304" pitchFamily="18" charset="0"/>
                <a:cs typeface="Times New Roman" panose="02020603050405020304" pitchFamily="18" charset="0"/>
              </a:rPr>
              <a:t> (Budget &amp; Cost)</a:t>
            </a:r>
          </a:p>
        </p:txBody>
      </p:sp>
      <p:sp>
        <p:nvSpPr>
          <p:cNvPr id="4" name="Text Placeholder 3"/>
          <p:cNvSpPr>
            <a:spLocks noGrp="1"/>
          </p:cNvSpPr>
          <p:nvPr>
            <p:ph type="body" sz="half" idx="2"/>
          </p:nvPr>
        </p:nvSpPr>
        <p:spPr>
          <a:xfrm>
            <a:off x="573087" y="983551"/>
            <a:ext cx="7995180" cy="773821"/>
          </a:xfrm>
        </p:spPr>
        <p:txBody>
          <a:bodyPr>
            <a:normAutofit lnSpcReduction="10000"/>
          </a:bodyPr>
          <a:lstStyle/>
          <a:p>
            <a:pPr lvl="0"/>
            <a:r>
              <a:rPr lang="en-US" sz="1400" b="1" dirty="0" err="1">
                <a:latin typeface="Times New Roman" panose="02020603050405020304" pitchFamily="18" charset="0"/>
                <a:cs typeface="Times New Roman" panose="02020603050405020304" pitchFamily="18" charset="0"/>
              </a:rPr>
              <a:t>Số</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người</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dùng</a:t>
            </a:r>
            <a:r>
              <a:rPr sz="1400" b="1" dirty="0">
                <a:latin typeface="Times New Roman" panose="02020603050405020304" pitchFamily="18" charset="0"/>
                <a:cs typeface="Times New Roman" panose="02020603050405020304" pitchFamily="18" charset="0"/>
              </a:rPr>
              <a:t>：</a:t>
            </a:r>
            <a:r>
              <a:rPr sz="1400" dirty="0">
                <a:latin typeface="Times New Roman" panose="02020603050405020304" pitchFamily="18" charset="0"/>
                <a:cs typeface="Times New Roman" panose="02020603050405020304" pitchFamily="18" charset="0"/>
              </a:rPr>
              <a:t> &lt; 50 </a:t>
            </a:r>
            <a:r>
              <a:rPr lang="en-US" sz="1400" dirty="0" err="1">
                <a:latin typeface="Times New Roman" panose="02020603050405020304" pitchFamily="18" charset="0"/>
                <a:cs typeface="Times New Roman" panose="02020603050405020304" pitchFamily="18" charset="0"/>
              </a:rPr>
              <a:t>người</a:t>
            </a:r>
            <a:br>
              <a:rPr sz="1400" dirty="0">
                <a:latin typeface="Times New Roman" panose="02020603050405020304" pitchFamily="18" charset="0"/>
                <a:cs typeface="Times New Roman" panose="02020603050405020304" pitchFamily="18" charset="0"/>
              </a:rPr>
            </a:br>
            <a:endParaRPr sz="1400" dirty="0">
              <a:latin typeface="Times New Roman" panose="02020603050405020304" pitchFamily="18" charset="0"/>
              <a:cs typeface="Times New Roman" panose="02020603050405020304" pitchFamily="18" charset="0"/>
            </a:endParaRPr>
          </a:p>
          <a:p>
            <a:pPr lvl="0"/>
            <a:r>
              <a:rPr lang="en-US" sz="1400" b="1" dirty="0" err="1">
                <a:latin typeface="Times New Roman" panose="02020603050405020304" pitchFamily="18" charset="0"/>
                <a:cs typeface="Times New Roman" panose="02020603050405020304" pitchFamily="18" charset="0"/>
              </a:rPr>
              <a:t>Lựa</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chọn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phương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án</a:t>
            </a:r>
            <a:r>
              <a:rPr sz="1400" b="1" dirty="0">
                <a:latin typeface="Times New Roman" panose="02020603050405020304" pitchFamily="18" charset="0"/>
                <a:cs typeface="Times New Roman" panose="02020603050405020304" pitchFamily="18" charset="0"/>
              </a:rPr>
              <a:t>：</a:t>
            </a:r>
            <a:r>
              <a:rPr sz="1400" dirty="0">
                <a:latin typeface="Times New Roman" panose="02020603050405020304" pitchFamily="18" charset="0"/>
                <a:cs typeface="Times New Roman" panose="02020603050405020304" pitchFamily="18" charset="0"/>
              </a:rPr>
              <a:t> Cloudflare Zero Trust </a:t>
            </a:r>
            <a:r>
              <a:rPr sz="1400" b="1" dirty="0">
                <a:latin typeface="Times New Roman" panose="02020603050405020304" pitchFamily="18" charset="0"/>
                <a:cs typeface="Times New Roman" panose="02020603050405020304" pitchFamily="18" charset="0"/>
              </a:rPr>
              <a:t>Free Plan (</a:t>
            </a:r>
            <a:r>
              <a:rPr lang="en-US" sz="1400" b="1" dirty="0" err="1">
                <a:latin typeface="Times New Roman" panose="02020603050405020304" pitchFamily="18" charset="0"/>
                <a:cs typeface="Times New Roman" panose="02020603050405020304" pitchFamily="18" charset="0"/>
              </a:rPr>
              <a:t>phương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án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miễn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phí</a:t>
            </a:r>
            <a:r>
              <a:rPr sz="1400" b="1" dirty="0">
                <a:latin typeface="Times New Roman" panose="02020603050405020304" pitchFamily="18" charset="0"/>
                <a:cs typeface="Times New Roman" panose="02020603050405020304" pitchFamily="18" charset="0"/>
              </a:rPr>
              <a:t>)</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666312500"/>
              </p:ext>
            </p:extLst>
          </p:nvPr>
        </p:nvGraphicFramePr>
        <p:xfrm>
          <a:off x="573087" y="1985818"/>
          <a:ext cx="7995180" cy="2405583"/>
        </p:xfrm>
        <a:graphic>
          <a:graphicData uri="http://schemas.openxmlformats.org/drawingml/2006/table">
            <a:tbl>
              <a:tblPr firstRow="1" bandRow="1">
                <a:tableStyleId>{5C22544A-7EE6-4342-B048-85BDC9FD1C3A}</a:tableStyleId>
              </a:tblPr>
              <a:tblGrid>
                <a:gridCol w="2665060">
                  <a:extLst>
                    <a:ext uri="{9D8B030D-6E8A-4147-A177-3AD203B41FA5}">
                      <a16:colId xmlns:a16="http://schemas.microsoft.com/office/drawing/2014/main" val="20000"/>
                    </a:ext>
                  </a:extLst>
                </a:gridCol>
                <a:gridCol w="2665060">
                  <a:extLst>
                    <a:ext uri="{9D8B030D-6E8A-4147-A177-3AD203B41FA5}">
                      <a16:colId xmlns:a16="http://schemas.microsoft.com/office/drawing/2014/main" val="20001"/>
                    </a:ext>
                  </a:extLst>
                </a:gridCol>
                <a:gridCol w="2665060">
                  <a:extLst>
                    <a:ext uri="{9D8B030D-6E8A-4147-A177-3AD203B41FA5}">
                      <a16:colId xmlns:a16="http://schemas.microsoft.com/office/drawing/2014/main" val="20002"/>
                    </a:ext>
                  </a:extLst>
                </a:gridCol>
              </a:tblGrid>
              <a:tr h="389951">
                <a:tc>
                  <a:txBody>
                    <a:bodyPr/>
                    <a:lstStyle/>
                    <a:p>
                      <a:pPr marL="0" lvl="0" indent="0" algn="l">
                        <a:buNone/>
                      </a:pPr>
                      <a:r>
                        <a:rPr lang="en-US" dirty="0" err="1">
                          <a:latin typeface="Times New Roman" panose="02020603050405020304" pitchFamily="18" charset="0"/>
                          <a:cs typeface="Times New Roman" panose="02020603050405020304" pitchFamily="18" charset="0"/>
                        </a:rPr>
                        <a:t>Hạng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mục</a:t>
                      </a:r>
                      <a:endParaRPr dirty="0">
                        <a:latin typeface="Times New Roman" panose="02020603050405020304" pitchFamily="18" charset="0"/>
                        <a:cs typeface="Times New Roman" panose="02020603050405020304" pitchFamily="18" charset="0"/>
                      </a:endParaRPr>
                    </a:p>
                  </a:txBody>
                  <a:tcPr/>
                </a:tc>
                <a:tc>
                  <a:txBody>
                    <a:bodyPr/>
                    <a:lstStyle/>
                    <a:p>
                      <a:pPr marL="0" lvl="0" indent="0" algn="l">
                        <a:buNone/>
                      </a:pPr>
                      <a:r>
                        <a:rPr lang="en-US" dirty="0">
                          <a:latin typeface="Times New Roman" panose="02020603050405020304" pitchFamily="18" charset="0"/>
                          <a:cs typeface="Times New Roman" panose="02020603050405020304" pitchFamily="18" charset="0"/>
                        </a:rPr>
                        <a:t>Chi </a:t>
                      </a:r>
                      <a:r>
                        <a:rPr lang="en-US" dirty="0" err="1">
                          <a:latin typeface="Times New Roman" panose="02020603050405020304" pitchFamily="18" charset="0"/>
                          <a:cs typeface="Times New Roman" panose="02020603050405020304" pitchFamily="18" charset="0"/>
                        </a:rPr>
                        <a:t>phí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năm</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txBody>
                  <a:tcPr/>
                </a:tc>
                <a:tc>
                  <a:txBody>
                    <a:bodyPr/>
                    <a:lstStyle/>
                    <a:p>
                      <a:pPr marL="0" lvl="0" indent="0" algn="l">
                        <a:buNone/>
                      </a:pPr>
                      <a:r>
                        <a:rPr lang="en-US" dirty="0" err="1">
                          <a:latin typeface="Times New Roman" panose="02020603050405020304" pitchFamily="18" charset="0"/>
                          <a:cs typeface="Times New Roman" panose="02020603050405020304" pitchFamily="18" charset="0"/>
                        </a:rPr>
                        <a:t>Ghi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chú</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thích</a:t>
                      </a:r>
                      <a:endParaRP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659916">
                <a:tc>
                  <a:txBody>
                    <a:bodyPr/>
                    <a:lstStyle/>
                    <a:p>
                      <a:pPr marL="0" lvl="0" indent="0" algn="l">
                        <a:buNone/>
                      </a:pPr>
                      <a:r>
                        <a:rPr lang="en-US" b="1" dirty="0" err="1">
                          <a:latin typeface="Times New Roman" panose="02020603050405020304" pitchFamily="18" charset="0"/>
                          <a:cs typeface="Times New Roman" panose="02020603050405020304" pitchFamily="18" charset="0"/>
                        </a:rPr>
                        <a:t>Nền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tảng</a:t>
                      </a:r>
                      <a:r>
                        <a:rPr lang="en-US" b="1"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Zero Trust ZTNA</a:t>
                      </a:r>
                    </a:p>
                  </a:txBody>
                  <a:tcPr/>
                </a:tc>
                <a:tc>
                  <a:txBody>
                    <a:bodyPr/>
                    <a:lstStyle/>
                    <a:p>
                      <a:pPr marL="0" lvl="0" indent="0" algn="l">
                        <a:buNone/>
                      </a:pPr>
                      <a:r>
                        <a:rPr b="1">
                          <a:latin typeface="Times New Roman" panose="02020603050405020304" pitchFamily="18" charset="0"/>
                          <a:cs typeface="Times New Roman" panose="02020603050405020304" pitchFamily="18" charset="0"/>
                        </a:rPr>
                        <a:t>$0 USD</a:t>
                      </a:r>
                      <a:endParaRPr b="1" dirty="0">
                        <a:latin typeface="Times New Roman" panose="02020603050405020304" pitchFamily="18" charset="0"/>
                        <a:cs typeface="Times New Roman" panose="02020603050405020304" pitchFamily="18" charset="0"/>
                      </a:endParaRPr>
                    </a:p>
                  </a:txBody>
                  <a:tcPr/>
                </a:tc>
                <a:tc>
                  <a:txBody>
                    <a:bodyPr/>
                    <a:lstStyle/>
                    <a:p>
                      <a:pPr marL="0" lvl="0" indent="0" algn="l">
                        <a:buNone/>
                      </a:pPr>
                      <a:r>
                        <a:rPr lang="vi-VN" dirty="0">
                          <a:latin typeface="Times New Roman" panose="02020603050405020304" pitchFamily="18" charset="0"/>
                          <a:cs typeface="Times New Roman" panose="02020603050405020304" pitchFamily="18" charset="0"/>
                        </a:rPr>
                        <a:t>Bao gồm 50 tài khoản người dùng, hoàn toàn đáp ứng nhu cầu trong giai đoạn PoC</a:t>
                      </a:r>
                      <a:endParaRP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598312">
                <a:tc>
                  <a:txBody>
                    <a:bodyPr/>
                    <a:lstStyle/>
                    <a:p>
                      <a:pPr marL="0" lvl="0" indent="0" algn="l">
                        <a:buNone/>
                      </a:pPr>
                      <a:r>
                        <a:rPr b="1">
                          <a:latin typeface="Times New Roman" panose="02020603050405020304" pitchFamily="18" charset="0"/>
                          <a:cs typeface="Times New Roman" panose="02020603050405020304" pitchFamily="18" charset="0"/>
                        </a:rPr>
                        <a:t>Tunnel / Access / WARP</a:t>
                      </a:r>
                    </a:p>
                  </a:txBody>
                  <a:tcPr/>
                </a:tc>
                <a:tc>
                  <a:txBody>
                    <a:bodyPr/>
                    <a:lstStyle/>
                    <a:p>
                      <a:pPr marL="0" lvl="0" indent="0" algn="l">
                        <a:buNone/>
                      </a:pPr>
                      <a:r>
                        <a:rPr b="1" dirty="0">
                          <a:latin typeface="Times New Roman" panose="02020603050405020304" pitchFamily="18" charset="0"/>
                          <a:cs typeface="Times New Roman" panose="02020603050405020304" pitchFamily="18" charset="0"/>
                        </a:rPr>
                        <a:t>$0 USD</a:t>
                      </a:r>
                    </a:p>
                  </a:txBody>
                  <a:tcPr/>
                </a:tc>
                <a:tc>
                  <a:txBody>
                    <a:bodyPr/>
                    <a:lstStyle/>
                    <a:p>
                      <a:pPr marL="0" lvl="0" indent="0" algn="l">
                        <a:buNone/>
                      </a:pPr>
                      <a:r>
                        <a:rPr lang="vi-VN" dirty="0">
                          <a:latin typeface="Times New Roman" panose="02020603050405020304" pitchFamily="18" charset="0"/>
                          <a:cs typeface="Times New Roman" panose="02020603050405020304" pitchFamily="18" charset="0"/>
                        </a:rPr>
                        <a:t>Tất cả các chức năng cốt lõi đều được sử dụng miễn phí.</a:t>
                      </a:r>
                      <a:endParaRP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659916">
                <a:tc>
                  <a:txBody>
                    <a:bodyPr/>
                    <a:lstStyle/>
                    <a:p>
                      <a:pPr marL="0" lvl="0" indent="0" algn="l">
                        <a:buNone/>
                      </a:pPr>
                      <a:r>
                        <a:rPr lang="en-US" b="1" dirty="0" err="1">
                          <a:latin typeface="Times New Roman" panose="02020603050405020304" pitchFamily="18" charset="0"/>
                          <a:cs typeface="Times New Roman" panose="02020603050405020304" pitchFamily="18" charset="0"/>
                        </a:rPr>
                        <a:t>Tổng</a:t>
                      </a:r>
                      <a:r>
                        <a:rPr lang="en-US" b="1" dirty="0">
                          <a:latin typeface="Times New Roman" panose="02020603050405020304" pitchFamily="18" charset="0"/>
                          <a:cs typeface="Times New Roman" panose="02020603050405020304" pitchFamily="18" charset="0"/>
                        </a:rPr>
                        <a:t> chi </a:t>
                      </a:r>
                      <a:r>
                        <a:rPr lang="en-US" b="1" dirty="0" err="1">
                          <a:latin typeface="Times New Roman" panose="02020603050405020304" pitchFamily="18" charset="0"/>
                          <a:cs typeface="Times New Roman" panose="02020603050405020304" pitchFamily="18" charset="0"/>
                        </a:rPr>
                        <a:t>phí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phần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mềm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của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án</a:t>
                      </a:r>
                      <a:r>
                        <a:rPr b="1" dirty="0">
                          <a:latin typeface="Times New Roman" panose="02020603050405020304" pitchFamily="18" charset="0"/>
                          <a:cs typeface="Times New Roman" panose="02020603050405020304" pitchFamily="18" charset="0"/>
                        </a:rPr>
                        <a:t> (PoC)</a:t>
                      </a:r>
                    </a:p>
                  </a:txBody>
                  <a:tcPr/>
                </a:tc>
                <a:tc>
                  <a:txBody>
                    <a:bodyPr/>
                    <a:lstStyle/>
                    <a:p>
                      <a:pPr marL="0" lvl="0" indent="0" algn="l">
                        <a:buNone/>
                      </a:pPr>
                      <a:r>
                        <a:rPr b="1">
                          <a:latin typeface="Times New Roman" panose="02020603050405020304" pitchFamily="18" charset="0"/>
                          <a:cs typeface="Times New Roman" panose="02020603050405020304" pitchFamily="18" charset="0"/>
                        </a:rPr>
                        <a:t>$0 USD</a:t>
                      </a:r>
                    </a:p>
                  </a:txBody>
                  <a:tcPr/>
                </a:tc>
                <a:tc>
                  <a:txBody>
                    <a:bodyPr/>
                    <a:lstStyle/>
                    <a:p>
                      <a:pPr marL="0" lvl="0" indent="0" algn="l">
                        <a:buNone/>
                      </a:pPr>
                      <a:r>
                        <a:rPr lang="en-US" dirty="0" err="1">
                          <a:latin typeface="Times New Roman" panose="02020603050405020304" pitchFamily="18" charset="0"/>
                          <a:cs typeface="Times New Roman" panose="02020603050405020304" pitchFamily="18" charset="0"/>
                        </a:rPr>
                        <a:t>Khởi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rủi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trung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vấn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ổn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nối</a:t>
                      </a:r>
                      <a:endParaRP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3200" b="1" dirty="0">
                <a:latin typeface="Times New Roman" panose="02020603050405020304" pitchFamily="18" charset="0"/>
                <a:cs typeface="Times New Roman" panose="02020603050405020304" pitchFamily="18" charset="0"/>
              </a:rPr>
              <a:t>8</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Lịch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trình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và</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kế</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hoạch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triển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khai</a:t>
            </a:r>
            <a:br>
              <a:rPr lang="en-US" sz="3200" b="1" dirty="0">
                <a:latin typeface="Times New Roman" panose="02020603050405020304" pitchFamily="18" charset="0"/>
                <a:cs typeface="Times New Roman" panose="02020603050405020304" pitchFamily="18" charset="0"/>
              </a:rPr>
            </a:br>
            <a:r>
              <a:rPr sz="3200" b="1"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(Timeline &amp; Next Steps)</a:t>
            </a:r>
            <a:endParaRPr sz="3200" b="1" dirty="0">
              <a:latin typeface="Times New Roman" panose="02020603050405020304" pitchFamily="18" charset="0"/>
              <a:cs typeface="Times New Roman" panose="02020603050405020304" pitchFamily="18"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9027788"/>
              </p:ext>
            </p:extLst>
          </p:nvPr>
        </p:nvGraphicFramePr>
        <p:xfrm>
          <a:off x="457200" y="1193798"/>
          <a:ext cx="8229600" cy="3409429"/>
        </p:xfrm>
        <a:graphic>
          <a:graphicData uri="http://schemas.openxmlformats.org/drawingml/2006/table">
            <a:tbl>
              <a:tblPr firstRow="1" bandRow="1">
                <a:tableStyleId>{5C22544A-7EE6-4342-B048-85BDC9FD1C3A}</a:tableStyleId>
              </a:tblPr>
              <a:tblGrid>
                <a:gridCol w="1741055">
                  <a:extLst>
                    <a:ext uri="{9D8B030D-6E8A-4147-A177-3AD203B41FA5}">
                      <a16:colId xmlns:a16="http://schemas.microsoft.com/office/drawing/2014/main" val="20000"/>
                    </a:ext>
                  </a:extLst>
                </a:gridCol>
                <a:gridCol w="2814012">
                  <a:extLst>
                    <a:ext uri="{9D8B030D-6E8A-4147-A177-3AD203B41FA5}">
                      <a16:colId xmlns:a16="http://schemas.microsoft.com/office/drawing/2014/main" val="20001"/>
                    </a:ext>
                  </a:extLst>
                </a:gridCol>
                <a:gridCol w="2370666">
                  <a:extLst>
                    <a:ext uri="{9D8B030D-6E8A-4147-A177-3AD203B41FA5}">
                      <a16:colId xmlns:a16="http://schemas.microsoft.com/office/drawing/2014/main" val="20002"/>
                    </a:ext>
                  </a:extLst>
                </a:gridCol>
                <a:gridCol w="1303867">
                  <a:extLst>
                    <a:ext uri="{9D8B030D-6E8A-4147-A177-3AD203B41FA5}">
                      <a16:colId xmlns:a16="http://schemas.microsoft.com/office/drawing/2014/main" val="20003"/>
                    </a:ext>
                  </a:extLst>
                </a:gridCol>
              </a:tblGrid>
              <a:tr h="489572">
                <a:tc>
                  <a:txBody>
                    <a:bodyPr/>
                    <a:lstStyle/>
                    <a:p>
                      <a:pPr marL="0" lvl="0" indent="0" algn="l">
                        <a:buNone/>
                      </a:pPr>
                      <a:r>
                        <a:rPr lang="en-US" dirty="0" err="1">
                          <a:latin typeface="Times New Roman" panose="02020603050405020304" pitchFamily="18" charset="0"/>
                          <a:cs typeface="Times New Roman" panose="02020603050405020304" pitchFamily="18" charset="0"/>
                        </a:rPr>
                        <a:t>Giai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đoạn</a:t>
                      </a:r>
                      <a:endParaRPr dirty="0">
                        <a:latin typeface="Times New Roman" panose="02020603050405020304" pitchFamily="18" charset="0"/>
                        <a:cs typeface="Times New Roman" panose="02020603050405020304" pitchFamily="18" charset="0"/>
                      </a:endParaRPr>
                    </a:p>
                  </a:txBody>
                  <a:tcPr anchor="ctr"/>
                </a:tc>
                <a:tc>
                  <a:txBody>
                    <a:bodyPr/>
                    <a:lstStyle/>
                    <a:p>
                      <a:pPr marL="0" lvl="0" indent="0" algn="l">
                        <a:buNone/>
                      </a:pPr>
                      <a:r>
                        <a:rPr lang="en-US" dirty="0" err="1">
                          <a:latin typeface="Times New Roman" panose="02020603050405020304" pitchFamily="18" charset="0"/>
                          <a:cs typeface="Times New Roman" panose="02020603050405020304" pitchFamily="18" charset="0"/>
                        </a:rPr>
                        <a:t>Thời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kiến</a:t>
                      </a:r>
                      <a:r>
                        <a:rPr dirty="0">
                          <a:latin typeface="Times New Roman" panose="02020603050405020304" pitchFamily="18" charset="0"/>
                          <a:cs typeface="Times New Roman" panose="02020603050405020304" pitchFamily="18" charset="0"/>
                        </a:rPr>
                        <a:t> (4-6 </a:t>
                      </a:r>
                      <a:r>
                        <a:rPr lang="en-US" dirty="0" err="1">
                          <a:latin typeface="Times New Roman" panose="02020603050405020304" pitchFamily="18" charset="0"/>
                          <a:cs typeface="Times New Roman" panose="02020603050405020304" pitchFamily="18" charset="0"/>
                        </a:rPr>
                        <a:t>tuần</a:t>
                      </a:r>
                      <a:r>
                        <a:rPr dirty="0">
                          <a:latin typeface="Times New Roman" panose="02020603050405020304" pitchFamily="18" charset="0"/>
                          <a:cs typeface="Times New Roman" panose="02020603050405020304" pitchFamily="18" charset="0"/>
                        </a:rPr>
                        <a:t>)</a:t>
                      </a:r>
                    </a:p>
                  </a:txBody>
                  <a:tcPr anchor="ctr"/>
                </a:tc>
                <a:tc>
                  <a:txBody>
                    <a:bodyPr/>
                    <a:lstStyle/>
                    <a:p>
                      <a:pPr marL="0" lvl="0" indent="0" algn="l">
                        <a:buNone/>
                      </a:pP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chính</a:t>
                      </a:r>
                      <a:endParaRPr dirty="0">
                        <a:latin typeface="Times New Roman" panose="02020603050405020304" pitchFamily="18" charset="0"/>
                        <a:cs typeface="Times New Roman" panose="02020603050405020304" pitchFamily="18" charset="0"/>
                      </a:endParaRPr>
                    </a:p>
                  </a:txBody>
                  <a:tcPr anchor="ctr"/>
                </a:tc>
                <a:tc>
                  <a:txBody>
                    <a:bodyPr/>
                    <a:lstStyle/>
                    <a:p>
                      <a:pPr marL="0" lvl="0" indent="0" algn="l">
                        <a:buNone/>
                      </a:pPr>
                      <a:r>
                        <a:rPr lang="en-US" dirty="0" err="1">
                          <a:latin typeface="Times New Roman" panose="02020603050405020304" pitchFamily="18" charset="0"/>
                          <a:cs typeface="Times New Roman" panose="02020603050405020304" pitchFamily="18" charset="0"/>
                        </a:rPr>
                        <a:t>Phụ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trách</a:t>
                      </a:r>
                      <a:endParaRPr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838017">
                <a:tc>
                  <a:txBody>
                    <a:bodyPr/>
                    <a:lstStyle/>
                    <a:p>
                      <a:pPr marL="0" lvl="0" indent="0" algn="l">
                        <a:buNone/>
                      </a:pPr>
                      <a:r>
                        <a:rPr b="1" dirty="0">
                          <a:latin typeface="Times New Roman" panose="02020603050405020304" pitchFamily="18" charset="0"/>
                          <a:cs typeface="Times New Roman" panose="02020603050405020304" pitchFamily="18" charset="0"/>
                        </a:rPr>
                        <a:t>Phase 1: </a:t>
                      </a:r>
                      <a:br>
                        <a:rPr lang="en-US" b="1" dirty="0">
                          <a:latin typeface="Times New Roman" panose="02020603050405020304" pitchFamily="18" charset="0"/>
                          <a:cs typeface="Times New Roman" panose="02020603050405020304" pitchFamily="18" charset="0"/>
                        </a:rPr>
                      </a:br>
                      <a:r>
                        <a:rPr lang="en-US" b="1" dirty="0" err="1">
                          <a:latin typeface="Times New Roman" panose="02020603050405020304" pitchFamily="18" charset="0"/>
                          <a:cs typeface="Times New Roman" panose="02020603050405020304" pitchFamily="18" charset="0"/>
                        </a:rPr>
                        <a:t>Chuẩn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bị</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môi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trường</a:t>
                      </a:r>
                      <a:br>
                        <a:rPr lang="en-US" b="1" dirty="0">
                          <a:latin typeface="Times New Roman" panose="02020603050405020304" pitchFamily="18" charset="0"/>
                          <a:cs typeface="Times New Roman" panose="02020603050405020304" pitchFamily="18" charset="0"/>
                        </a:rPr>
                      </a:br>
                      <a:r>
                        <a:rPr b="1" dirty="0">
                          <a:latin typeface="Times New Roman" panose="02020603050405020304" pitchFamily="18" charset="0"/>
                          <a:cs typeface="Times New Roman" panose="02020603050405020304" pitchFamily="18" charset="0"/>
                        </a:rPr>
                        <a:t> (1 </a:t>
                      </a:r>
                      <a:r>
                        <a:rPr lang="en-US" b="1" dirty="0" err="1">
                          <a:latin typeface="Times New Roman" panose="02020603050405020304" pitchFamily="18" charset="0"/>
                          <a:cs typeface="Times New Roman" panose="02020603050405020304" pitchFamily="18" charset="0"/>
                        </a:rPr>
                        <a:t>tuần</a:t>
                      </a:r>
                      <a:r>
                        <a:rPr b="1" dirty="0">
                          <a:latin typeface="Times New Roman" panose="02020603050405020304" pitchFamily="18" charset="0"/>
                          <a:cs typeface="Times New Roman" panose="02020603050405020304" pitchFamily="18" charset="0"/>
                        </a:rPr>
                        <a:t>)</a:t>
                      </a:r>
                    </a:p>
                  </a:txBody>
                  <a:tcPr/>
                </a:tc>
                <a:tc>
                  <a:txBody>
                    <a:bodyPr/>
                    <a:lstStyle/>
                    <a:p>
                      <a:pPr marL="0" lvl="0" indent="0" algn="l">
                        <a:buNone/>
                      </a:pP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khoản</a:t>
                      </a:r>
                      <a:r>
                        <a:rPr lang="en-US" dirty="0">
                          <a:latin typeface="Times New Roman" panose="02020603050405020304" pitchFamily="18" charset="0"/>
                          <a:cs typeface="Times New Roman" panose="02020603050405020304" pitchFamily="18" charset="0"/>
                        </a:rPr>
                        <a:t> ZT,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IP/Port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giúp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viên</a:t>
                      </a:r>
                      <a:r>
                        <a:rPr lang="en-US" dirty="0">
                          <a:latin typeface="Times New Roman" panose="02020603050405020304" pitchFamily="18" charset="0"/>
                          <a:cs typeface="Times New Roman" panose="02020603050405020304" pitchFamily="18" charset="0"/>
                        </a:rPr>
                        <a:t> IT </a:t>
                      </a:r>
                      <a:r>
                        <a:rPr lang="en-US" dirty="0" err="1">
                          <a:latin typeface="Times New Roman" panose="02020603050405020304" pitchFamily="18" charset="0"/>
                          <a:cs typeface="Times New Roman" panose="02020603050405020304" pitchFamily="18" charset="0"/>
                        </a:rPr>
                        <a:t>làm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quen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khai</a:t>
                      </a:r>
                      <a:r>
                        <a:rPr lang="en-US" dirty="0">
                          <a:latin typeface="Times New Roman" panose="02020603050405020304" pitchFamily="18" charset="0"/>
                          <a:cs typeface="Times New Roman" panose="02020603050405020304" pitchFamily="18" charset="0"/>
                        </a:rPr>
                        <a:t> Tunnel.</a:t>
                      </a:r>
                      <a:endParaRPr dirty="0">
                        <a:latin typeface="Times New Roman" panose="02020603050405020304" pitchFamily="18" charset="0"/>
                        <a:cs typeface="Times New Roman" panose="02020603050405020304" pitchFamily="18" charset="0"/>
                      </a:endParaRPr>
                    </a:p>
                  </a:txBody>
                  <a:tcPr/>
                </a:tc>
                <a:tc>
                  <a:txBody>
                    <a:bodyPr/>
                    <a:lstStyle/>
                    <a:p>
                      <a:pPr marL="0" lvl="0" indent="0" algn="l">
                        <a:buNone/>
                      </a:pPr>
                      <a:r>
                        <a:rPr lang="en-US" dirty="0" err="1">
                          <a:latin typeface="Times New Roman" panose="02020603050405020304" pitchFamily="18" charset="0"/>
                          <a:cs typeface="Times New Roman" panose="02020603050405020304" pitchFamily="18" charset="0"/>
                        </a:rPr>
                        <a:t>Danh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cốt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lõi</a:t>
                      </a:r>
                      <a:endParaRPr dirty="0">
                        <a:latin typeface="Times New Roman" panose="02020603050405020304" pitchFamily="18" charset="0"/>
                        <a:cs typeface="Times New Roman" panose="02020603050405020304" pitchFamily="18" charset="0"/>
                      </a:endParaRPr>
                    </a:p>
                  </a:txBody>
                  <a:tcPr/>
                </a:tc>
                <a:tc>
                  <a:txBody>
                    <a:bodyPr/>
                    <a:lstStyle/>
                    <a:p>
                      <a:pPr marL="0" lvl="0" indent="0" algn="l">
                        <a:buNone/>
                      </a:pP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phận</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IT</a:t>
                      </a:r>
                    </a:p>
                  </a:txBody>
                  <a:tcPr/>
                </a:tc>
                <a:extLst>
                  <a:ext uri="{0D108BD9-81ED-4DB2-BD59-A6C34878D82A}">
                    <a16:rowId xmlns:a16="http://schemas.microsoft.com/office/drawing/2014/main" val="10001"/>
                  </a:ext>
                </a:extLst>
              </a:tr>
              <a:tr h="838017">
                <a:tc>
                  <a:txBody>
                    <a:bodyPr/>
                    <a:lstStyle/>
                    <a:p>
                      <a:pPr marL="0" lvl="0" indent="0" algn="l">
                        <a:buNone/>
                      </a:pPr>
                      <a:r>
                        <a:rPr b="1" dirty="0">
                          <a:latin typeface="Times New Roman" panose="02020603050405020304" pitchFamily="18" charset="0"/>
                          <a:cs typeface="Times New Roman" panose="02020603050405020304" pitchFamily="18" charset="0"/>
                        </a:rPr>
                        <a:t>Phase 2: </a:t>
                      </a:r>
                      <a:br>
                        <a:rPr lang="en-US" b="1" dirty="0">
                          <a:latin typeface="Times New Roman" panose="02020603050405020304" pitchFamily="18" charset="0"/>
                          <a:cs typeface="Times New Roman" panose="02020603050405020304" pitchFamily="18" charset="0"/>
                        </a:rPr>
                      </a:br>
                      <a:r>
                        <a:rPr lang="en-US" b="1" dirty="0" err="1">
                          <a:latin typeface="Times New Roman" panose="02020603050405020304" pitchFamily="18" charset="0"/>
                          <a:cs typeface="Times New Roman" panose="02020603050405020304" pitchFamily="18" charset="0"/>
                        </a:rPr>
                        <a:t>Công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bố</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hệ</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thống</a:t>
                      </a:r>
                      <a:br>
                        <a:rPr lang="en-US" b="1" dirty="0">
                          <a:latin typeface="Times New Roman" panose="02020603050405020304" pitchFamily="18" charset="0"/>
                          <a:cs typeface="Times New Roman" panose="02020603050405020304" pitchFamily="18" charset="0"/>
                        </a:rPr>
                      </a:br>
                      <a:r>
                        <a:rPr b="1" dirty="0">
                          <a:latin typeface="Times New Roman" panose="02020603050405020304" pitchFamily="18" charset="0"/>
                          <a:cs typeface="Times New Roman" panose="02020603050405020304" pitchFamily="18" charset="0"/>
                        </a:rPr>
                        <a:t>(2 </a:t>
                      </a:r>
                      <a:r>
                        <a:rPr lang="en-US" b="1" dirty="0" err="1">
                          <a:latin typeface="Times New Roman" panose="02020603050405020304" pitchFamily="18" charset="0"/>
                          <a:cs typeface="Times New Roman" panose="02020603050405020304" pitchFamily="18" charset="0"/>
                        </a:rPr>
                        <a:t>tuần</a:t>
                      </a:r>
                      <a:r>
                        <a:rPr b="1" dirty="0">
                          <a:latin typeface="Times New Roman" panose="02020603050405020304" pitchFamily="18" charset="0"/>
                          <a:cs typeface="Times New Roman" panose="02020603050405020304" pitchFamily="18" charset="0"/>
                        </a:rPr>
                        <a:t>)</a:t>
                      </a:r>
                    </a:p>
                  </a:txBody>
                  <a:tcPr/>
                </a:tc>
                <a:tc>
                  <a:txBody>
                    <a:bodyPr/>
                    <a:lstStyle/>
                    <a:p>
                      <a:pPr marL="0" lvl="0" indent="0" algn="l">
                        <a:buNone/>
                      </a:pP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khai</a:t>
                      </a:r>
                      <a:r>
                        <a:rPr lang="en-US" dirty="0">
                          <a:latin typeface="Times New Roman" panose="02020603050405020304" pitchFamily="18" charset="0"/>
                          <a:cs typeface="Times New Roman" panose="02020603050405020304" pitchFamily="18" charset="0"/>
                        </a:rPr>
                        <a:t> Tunnel,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cập</a:t>
                      </a:r>
                      <a:r>
                        <a:rPr lang="en-US" dirty="0">
                          <a:latin typeface="Times New Roman" panose="02020603050405020304" pitchFamily="18" charset="0"/>
                          <a:cs typeface="Times New Roman" panose="02020603050405020304" pitchFamily="18" charset="0"/>
                        </a:rPr>
                        <a:t> UOF/PLM,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OTP qua Access.</a:t>
                      </a:r>
                      <a:endParaRPr dirty="0">
                        <a:latin typeface="Times New Roman" panose="02020603050405020304" pitchFamily="18" charset="0"/>
                        <a:cs typeface="Times New Roman" panose="02020603050405020304" pitchFamily="18" charset="0"/>
                      </a:endParaRPr>
                    </a:p>
                  </a:txBody>
                  <a:tcPr/>
                </a:tc>
                <a:tc>
                  <a:txBody>
                    <a:bodyPr/>
                    <a:lstStyle/>
                    <a:p>
                      <a:pPr marL="0" lvl="0" indent="0" algn="l">
                        <a:buNone/>
                      </a:pP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ngoài</a:t>
                      </a:r>
                      <a:r>
                        <a:rPr lang="en-US" dirty="0">
                          <a:latin typeface="Times New Roman" panose="02020603050405020304" pitchFamily="18" charset="0"/>
                          <a:cs typeface="Times New Roman" panose="02020603050405020304" pitchFamily="18" charset="0"/>
                        </a:rPr>
                        <a:t> UOF/PLM </a:t>
                      </a:r>
                      <a:r>
                        <a:rPr lang="en-US" dirty="0" err="1">
                          <a:latin typeface="Times New Roman" panose="02020603050405020304" pitchFamily="18" charset="0"/>
                          <a:cs typeface="Times New Roman" panose="02020603050405020304" pitchFamily="18" charset="0"/>
                        </a:rPr>
                        <a:t>thành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endParaRPr dirty="0">
                        <a:latin typeface="Times New Roman" panose="02020603050405020304" pitchFamily="18" charset="0"/>
                        <a:cs typeface="Times New Roman" panose="02020603050405020304" pitchFamily="18" charset="0"/>
                      </a:endParaRPr>
                    </a:p>
                  </a:txBody>
                  <a:tcPr/>
                </a:tc>
                <a:tc>
                  <a:txBody>
                    <a:bodyPr/>
                    <a:lstStyle/>
                    <a:p>
                      <a:pPr marL="0" lvl="0" indent="0" algn="l">
                        <a:buNone/>
                      </a:pP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phận</a:t>
                      </a:r>
                      <a:r>
                        <a:rPr lang="en-US" dirty="0">
                          <a:latin typeface="Times New Roman" panose="02020603050405020304" pitchFamily="18" charset="0"/>
                          <a:cs typeface="Times New Roman" panose="02020603050405020304" pitchFamily="18" charset="0"/>
                        </a:rPr>
                        <a:t> IT</a:t>
                      </a:r>
                    </a:p>
                  </a:txBody>
                  <a:tcPr/>
                </a:tc>
                <a:extLst>
                  <a:ext uri="{0D108BD9-81ED-4DB2-BD59-A6C34878D82A}">
                    <a16:rowId xmlns:a16="http://schemas.microsoft.com/office/drawing/2014/main" val="10002"/>
                  </a:ext>
                </a:extLst>
              </a:tr>
              <a:tr h="1167440">
                <a:tc>
                  <a:txBody>
                    <a:bodyPr/>
                    <a:lstStyle/>
                    <a:p>
                      <a:pPr marL="0" lvl="0" indent="0" algn="l">
                        <a:buNone/>
                      </a:pPr>
                      <a:r>
                        <a:rPr b="1" dirty="0">
                          <a:latin typeface="Times New Roman" panose="02020603050405020304" pitchFamily="18" charset="0"/>
                          <a:cs typeface="Times New Roman" panose="02020603050405020304" pitchFamily="18" charset="0"/>
                        </a:rPr>
                        <a:t>Phase 3: </a:t>
                      </a:r>
                      <a:br>
                        <a:rPr lang="en-US" b="1" dirty="0">
                          <a:latin typeface="Times New Roman" panose="02020603050405020304" pitchFamily="18" charset="0"/>
                          <a:cs typeface="Times New Roman" panose="02020603050405020304" pitchFamily="18" charset="0"/>
                        </a:rPr>
                      </a:br>
                      <a:r>
                        <a:rPr lang="en-US" b="1" dirty="0" err="1">
                          <a:latin typeface="Times New Roman" panose="02020603050405020304" pitchFamily="18" charset="0"/>
                          <a:cs typeface="Times New Roman" panose="02020603050405020304" pitchFamily="18" charset="0"/>
                        </a:rPr>
                        <a:t>Triển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khai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nghiệm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thu</a:t>
                      </a:r>
                      <a:r>
                        <a:rPr lang="en-US" b="1"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WARP</a:t>
                      </a:r>
                      <a:br>
                        <a:rPr lang="en-US" b="1" dirty="0">
                          <a:latin typeface="Times New Roman" panose="02020603050405020304" pitchFamily="18" charset="0"/>
                          <a:cs typeface="Times New Roman" panose="02020603050405020304" pitchFamily="18" charset="0"/>
                        </a:rPr>
                      </a:br>
                      <a:r>
                        <a:rPr b="1" dirty="0">
                          <a:latin typeface="Times New Roman" panose="02020603050405020304" pitchFamily="18" charset="0"/>
                          <a:cs typeface="Times New Roman" panose="02020603050405020304" pitchFamily="18" charset="0"/>
                        </a:rPr>
                        <a:t> (2 </a:t>
                      </a:r>
                      <a:r>
                        <a:rPr lang="en-US" b="1" dirty="0" err="1">
                          <a:latin typeface="Times New Roman" panose="02020603050405020304" pitchFamily="18" charset="0"/>
                          <a:cs typeface="Times New Roman" panose="02020603050405020304" pitchFamily="18" charset="0"/>
                        </a:rPr>
                        <a:t>tuần</a:t>
                      </a:r>
                      <a:r>
                        <a:rPr b="1" dirty="0">
                          <a:latin typeface="Times New Roman" panose="02020603050405020304" pitchFamily="18" charset="0"/>
                          <a:cs typeface="Times New Roman" panose="02020603050405020304" pitchFamily="18" charset="0"/>
                        </a:rPr>
                        <a:t>)</a:t>
                      </a:r>
                    </a:p>
                  </a:txBody>
                  <a:tcPr/>
                </a:tc>
                <a:tc>
                  <a:txBody>
                    <a:bodyPr/>
                    <a:lstStyle/>
                    <a:p>
                      <a:pPr marL="0" lvl="0" indent="0" algn="l">
                        <a:buNone/>
                      </a:pPr>
                      <a:r>
                        <a:rPr lang="en-US" dirty="0" err="1">
                          <a:latin typeface="Times New Roman" panose="02020603050405020304" pitchFamily="18" charset="0"/>
                          <a:cs typeface="Times New Roman" panose="02020603050405020304" pitchFamily="18" charset="0"/>
                        </a:rPr>
                        <a:t>Cấu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tuyến</a:t>
                      </a:r>
                      <a:r>
                        <a:rPr lang="en-US" dirty="0">
                          <a:latin typeface="Times New Roman" panose="02020603050405020304" pitchFamily="18" charset="0"/>
                          <a:cs typeface="Times New Roman" panose="02020603050405020304" pitchFamily="18" charset="0"/>
                        </a:rPr>
                        <a:t> ERP,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hành</a:t>
                      </a:r>
                      <a:r>
                        <a:rPr lang="en-US" dirty="0">
                          <a:latin typeface="Times New Roman" panose="02020603050405020304" pitchFamily="18" charset="0"/>
                          <a:cs typeface="Times New Roman" panose="02020603050405020304" pitchFamily="18" charset="0"/>
                        </a:rPr>
                        <a:t> WARP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ổn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xuyên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quốc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txBody>
                  <a:tcPr/>
                </a:tc>
                <a:tc>
                  <a:txBody>
                    <a:bodyPr/>
                    <a:lstStyle/>
                    <a:p>
                      <a:pPr marL="0" lvl="0" indent="0" algn="l">
                        <a:buNone/>
                      </a:pPr>
                      <a:r>
                        <a:rPr lang="en-US" b="1" dirty="0" err="1">
                          <a:latin typeface="Times New Roman" panose="02020603050405020304" pitchFamily="18" charset="0"/>
                          <a:cs typeface="Times New Roman" panose="02020603050405020304" pitchFamily="18" charset="0"/>
                        </a:rPr>
                        <a:t>Kết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nối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ổn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định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ứng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dụng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khách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chuyên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dụng</a:t>
                      </a:r>
                      <a:r>
                        <a:rPr lang="en-US" b="1" dirty="0">
                          <a:latin typeface="Times New Roman" panose="02020603050405020304" pitchFamily="18" charset="0"/>
                          <a:cs typeface="Times New Roman" panose="02020603050405020304" pitchFamily="18" charset="0"/>
                        </a:rPr>
                        <a:t> ERP</a:t>
                      </a:r>
                      <a:endParaRPr b="1" dirty="0">
                        <a:latin typeface="Times New Roman" panose="02020603050405020304" pitchFamily="18" charset="0"/>
                        <a:cs typeface="Times New Roman" panose="02020603050405020304" pitchFamily="18" charset="0"/>
                      </a:endParaRPr>
                    </a:p>
                  </a:txBody>
                  <a:tcPr/>
                </a:tc>
                <a:tc>
                  <a:txBody>
                    <a:bodyPr/>
                    <a:lstStyle/>
                    <a:p>
                      <a:pPr marL="0" lvl="0" indent="0" algn="l">
                        <a:buNone/>
                      </a:pP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phận</a:t>
                      </a:r>
                      <a:r>
                        <a:rPr lang="en-US" dirty="0">
                          <a:latin typeface="Times New Roman" panose="02020603050405020304" pitchFamily="18" charset="0"/>
                          <a:cs typeface="Times New Roman" panose="02020603050405020304" pitchFamily="18" charset="0"/>
                        </a:rPr>
                        <a:t> IT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Doanh</a:t>
                      </a:r>
                      <a:endParaRP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sz="3200" b="1" dirty="0">
                <a:latin typeface="Times New Roman" panose="02020603050405020304" pitchFamily="18" charset="0"/>
                <a:cs typeface="Times New Roman" panose="02020603050405020304" pitchFamily="18" charset="0"/>
              </a:rPr>
              <a:t>9</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Đánh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giá</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hiệu</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quả</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và</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giá</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trị</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đạt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được</a:t>
            </a:r>
            <a:br>
              <a:rPr lang="en-US" sz="3200" b="1" dirty="0">
                <a:latin typeface="Times New Roman" panose="02020603050405020304" pitchFamily="18" charset="0"/>
                <a:cs typeface="Times New Roman" panose="02020603050405020304" pitchFamily="18" charset="0"/>
              </a:rPr>
            </a:br>
            <a:r>
              <a:rPr sz="3200" b="1"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(Value Proposition)</a:t>
            </a:r>
            <a:endParaRPr sz="3200" b="1" dirty="0">
              <a:latin typeface="Times New Roman" panose="02020603050405020304" pitchFamily="18" charset="0"/>
              <a:cs typeface="Times New Roman" panose="02020603050405020304" pitchFamily="18"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833387072"/>
              </p:ext>
            </p:extLst>
          </p:nvPr>
        </p:nvGraphicFramePr>
        <p:xfrm>
          <a:off x="457200" y="1193799"/>
          <a:ext cx="8229600" cy="3314498"/>
        </p:xfrm>
        <a:graphic>
          <a:graphicData uri="http://schemas.openxmlformats.org/drawingml/2006/table">
            <a:tbl>
              <a:tblPr firstRow="1" bandRow="1">
                <a:tableStyleId>{5C22544A-7EE6-4342-B048-85BDC9FD1C3A}</a:tableStyleId>
              </a:tblPr>
              <a:tblGrid>
                <a:gridCol w="1685636">
                  <a:extLst>
                    <a:ext uri="{9D8B030D-6E8A-4147-A177-3AD203B41FA5}">
                      <a16:colId xmlns:a16="http://schemas.microsoft.com/office/drawing/2014/main" val="20000"/>
                    </a:ext>
                  </a:extLst>
                </a:gridCol>
                <a:gridCol w="1551709">
                  <a:extLst>
                    <a:ext uri="{9D8B030D-6E8A-4147-A177-3AD203B41FA5}">
                      <a16:colId xmlns:a16="http://schemas.microsoft.com/office/drawing/2014/main" val="20001"/>
                    </a:ext>
                  </a:extLst>
                </a:gridCol>
                <a:gridCol w="1496291">
                  <a:extLst>
                    <a:ext uri="{9D8B030D-6E8A-4147-A177-3AD203B41FA5}">
                      <a16:colId xmlns:a16="http://schemas.microsoft.com/office/drawing/2014/main" val="20002"/>
                    </a:ext>
                  </a:extLst>
                </a:gridCol>
                <a:gridCol w="3495964">
                  <a:extLst>
                    <a:ext uri="{9D8B030D-6E8A-4147-A177-3AD203B41FA5}">
                      <a16:colId xmlns:a16="http://schemas.microsoft.com/office/drawing/2014/main" val="20003"/>
                    </a:ext>
                  </a:extLst>
                </a:gridCol>
              </a:tblGrid>
              <a:tr h="432690">
                <a:tc>
                  <a:txBody>
                    <a:bodyPr/>
                    <a:lstStyle/>
                    <a:p>
                      <a:pPr marL="0" lvl="0" indent="0" algn="l">
                        <a:buNone/>
                      </a:pPr>
                      <a:r>
                        <a:rPr lang="en-US" dirty="0" err="1">
                          <a:latin typeface="Times New Roman" panose="02020603050405020304" pitchFamily="18" charset="0"/>
                          <a:cs typeface="Times New Roman" panose="02020603050405020304" pitchFamily="18" charset="0"/>
                        </a:rPr>
                        <a:t>Khía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a:t>
                      </a:r>
                      <a:endParaRPr dirty="0">
                        <a:latin typeface="Times New Roman" panose="02020603050405020304" pitchFamily="18" charset="0"/>
                        <a:cs typeface="Times New Roman" panose="02020603050405020304" pitchFamily="18" charset="0"/>
                      </a:endParaRPr>
                    </a:p>
                  </a:txBody>
                  <a:tcPr anchor="ctr"/>
                </a:tc>
                <a:tc>
                  <a:txBody>
                    <a:bodyPr/>
                    <a:lstStyle/>
                    <a:p>
                      <a:pPr marL="0" lvl="0" indent="0" algn="l">
                        <a:buNone/>
                      </a:pPr>
                      <a:r>
                        <a:rPr dirty="0">
                          <a:latin typeface="Times New Roman" panose="02020603050405020304" pitchFamily="18" charset="0"/>
                          <a:cs typeface="Times New Roman" panose="02020603050405020304" pitchFamily="18" charset="0"/>
                        </a:rPr>
                        <a:t>VPN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truyền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endParaRPr dirty="0">
                        <a:latin typeface="Times New Roman" panose="02020603050405020304" pitchFamily="18" charset="0"/>
                        <a:cs typeface="Times New Roman" panose="02020603050405020304" pitchFamily="18" charset="0"/>
                      </a:endParaRPr>
                    </a:p>
                  </a:txBody>
                  <a:tcPr anchor="ctr"/>
                </a:tc>
                <a:tc>
                  <a:txBody>
                    <a:bodyPr/>
                    <a:lstStyle/>
                    <a:p>
                      <a:pPr marL="0" lvl="0" indent="0" algn="l">
                        <a:buNone/>
                      </a:pPr>
                      <a:r>
                        <a:rPr dirty="0">
                          <a:latin typeface="Times New Roman" panose="02020603050405020304" pitchFamily="18" charset="0"/>
                          <a:cs typeface="Times New Roman" panose="02020603050405020304" pitchFamily="18" charset="0"/>
                        </a:rPr>
                        <a:t>Cloudflare ZTNA</a:t>
                      </a:r>
                    </a:p>
                  </a:txBody>
                  <a:tcPr anchor="ctr"/>
                </a:tc>
                <a:tc>
                  <a:txBody>
                    <a:bodyPr/>
                    <a:lstStyle/>
                    <a:p>
                      <a:pPr marL="0" lvl="0" indent="0" algn="l">
                        <a:buNone/>
                      </a:pPr>
                      <a:r>
                        <a:rPr lang="en-US" dirty="0" err="1">
                          <a:latin typeface="Times New Roman" panose="02020603050405020304" pitchFamily="18" charset="0"/>
                          <a:cs typeface="Times New Roman" panose="02020603050405020304" pitchFamily="18" charset="0"/>
                        </a:rPr>
                        <a:t>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732244">
                <a:tc>
                  <a:txBody>
                    <a:bodyPr/>
                    <a:lstStyle/>
                    <a:p>
                      <a:pPr marL="0" lvl="0" indent="0" algn="l">
                        <a:buNone/>
                      </a:pPr>
                      <a:r>
                        <a:rPr lang="en-US" b="1" dirty="0" err="1">
                          <a:latin typeface="Times New Roman" panose="02020603050405020304" pitchFamily="18" charset="0"/>
                          <a:cs typeface="Times New Roman" panose="02020603050405020304" pitchFamily="18" charset="0"/>
                        </a:rPr>
                        <a:t>Tính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ổn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định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hoạt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động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doanh</a:t>
                      </a:r>
                      <a:endParaRPr b="1" dirty="0">
                        <a:latin typeface="Times New Roman" panose="02020603050405020304" pitchFamily="18" charset="0"/>
                        <a:cs typeface="Times New Roman" panose="02020603050405020304" pitchFamily="18" charset="0"/>
                      </a:endParaRPr>
                    </a:p>
                  </a:txBody>
                  <a:tcPr anchor="ctr"/>
                </a:tc>
                <a:tc>
                  <a:txBody>
                    <a:bodyPr/>
                    <a:lstStyle/>
                    <a:p>
                      <a:pPr marL="0" lvl="0" indent="0" algn="l">
                        <a:buNone/>
                      </a:pPr>
                      <a:r>
                        <a:rPr lang="en-US" dirty="0" err="1">
                          <a:latin typeface="Times New Roman" panose="02020603050405020304" pitchFamily="18" charset="0"/>
                          <a:cs typeface="Times New Roman" panose="02020603050405020304" pitchFamily="18" charset="0"/>
                        </a:rPr>
                        <a:t>Dễ</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đoạn</a:t>
                      </a:r>
                      <a:endParaRPr dirty="0">
                        <a:latin typeface="Times New Roman" panose="02020603050405020304" pitchFamily="18" charset="0"/>
                        <a:cs typeface="Times New Roman" panose="02020603050405020304" pitchFamily="18" charset="0"/>
                      </a:endParaRPr>
                    </a:p>
                  </a:txBody>
                  <a:tcPr anchor="ctr"/>
                </a:tc>
                <a:tc>
                  <a:txBody>
                    <a:bodyPr/>
                    <a:lstStyle/>
                    <a:p>
                      <a:pPr marL="0" lvl="0" indent="0" algn="l">
                        <a:buNone/>
                      </a:pPr>
                      <a:r>
                        <a:rPr lang="en-US" b="1" dirty="0" err="1">
                          <a:latin typeface="Times New Roman" panose="02020603050405020304" pitchFamily="18" charset="0"/>
                          <a:cs typeface="Times New Roman" panose="02020603050405020304" pitchFamily="18" charset="0"/>
                        </a:rPr>
                        <a:t>Rất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cao</a:t>
                      </a:r>
                      <a:endParaRPr b="1" dirty="0">
                        <a:latin typeface="Times New Roman" panose="02020603050405020304" pitchFamily="18" charset="0"/>
                        <a:cs typeface="Times New Roman" panose="02020603050405020304" pitchFamily="18" charset="0"/>
                      </a:endParaRPr>
                    </a:p>
                  </a:txBody>
                  <a:tcPr anchor="ctr"/>
                </a:tc>
                <a:tc>
                  <a:txBody>
                    <a:bodyPr/>
                    <a:lstStyle/>
                    <a:p>
                      <a:pPr marL="0" lvl="0" indent="0" algn="l">
                        <a:buNone/>
                      </a:pPr>
                      <a:r>
                        <a:rPr lang="vi-VN" dirty="0">
                          <a:latin typeface="Times New Roman" panose="02020603050405020304" pitchFamily="18" charset="0"/>
                          <a:cs typeface="Times New Roman" panose="02020603050405020304" pitchFamily="18" charset="0"/>
                        </a:rPr>
                        <a:t>Đảm bảo </a:t>
                      </a:r>
                      <a:r>
                        <a:rPr lang="vi-VN" b="1" dirty="0">
                          <a:latin typeface="Times New Roman" panose="02020603050405020304" pitchFamily="18" charset="0"/>
                          <a:cs typeface="Times New Roman" panose="02020603050405020304" pitchFamily="18" charset="0"/>
                        </a:rPr>
                        <a:t>100%</a:t>
                      </a:r>
                      <a:r>
                        <a:rPr lang="vi-VN" dirty="0">
                          <a:latin typeface="Times New Roman" panose="02020603050405020304" pitchFamily="18" charset="0"/>
                          <a:cs typeface="Times New Roman" panose="02020603050405020304" pitchFamily="18" charset="0"/>
                        </a:rPr>
                        <a:t> khả năng truy cập hệ thống cốt lõi cho cán bộ ở nước ngoài, giảm thiểu tình trạng trì hoãn trong công việc.</a:t>
                      </a:r>
                      <a:endParaRP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732244">
                <a:tc>
                  <a:txBody>
                    <a:bodyPr/>
                    <a:lstStyle/>
                    <a:p>
                      <a:pPr marL="0" lvl="0" indent="0" algn="l">
                        <a:buNone/>
                      </a:pPr>
                      <a:r>
                        <a:rPr lang="en-US" b="1" dirty="0" err="1">
                          <a:latin typeface="Times New Roman" panose="02020603050405020304" pitchFamily="18" charset="0"/>
                          <a:cs typeface="Times New Roman" panose="02020603050405020304" pitchFamily="18" charset="0"/>
                        </a:rPr>
                        <a:t>Bảo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mật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thông</a:t>
                      </a:r>
                      <a:r>
                        <a:rPr lang="en-US" b="1" dirty="0">
                          <a:latin typeface="Times New Roman" panose="02020603050405020304" pitchFamily="18" charset="0"/>
                          <a:cs typeface="Times New Roman" panose="02020603050405020304" pitchFamily="18" charset="0"/>
                        </a:rPr>
                        <a:t> tin</a:t>
                      </a:r>
                      <a:endParaRPr b="1" dirty="0">
                        <a:latin typeface="Times New Roman" panose="02020603050405020304" pitchFamily="18" charset="0"/>
                        <a:cs typeface="Times New Roman" panose="02020603050405020304" pitchFamily="18" charset="0"/>
                      </a:endParaRPr>
                    </a:p>
                  </a:txBody>
                  <a:tcPr anchor="ctr"/>
                </a:tc>
                <a:tc>
                  <a:txBody>
                    <a:bodyPr/>
                    <a:lstStyle/>
                    <a:p>
                      <a:pPr marL="0" lvl="0" indent="0" algn="l">
                        <a:buNone/>
                      </a:pPr>
                      <a:r>
                        <a:rPr lang="en-US" dirty="0" err="1">
                          <a:latin typeface="Times New Roman" panose="02020603050405020304" pitchFamily="18" charset="0"/>
                          <a:cs typeface="Times New Roman" panose="02020603050405020304" pitchFamily="18" charset="0"/>
                        </a:rPr>
                        <a:t>Thấp</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Lộ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dirty="0">
                          <a:latin typeface="Times New Roman" panose="02020603050405020304" pitchFamily="18" charset="0"/>
                          <a:cs typeface="Times New Roman" panose="02020603050405020304" pitchFamily="18" charset="0"/>
                        </a:rPr>
                        <a:t>)</a:t>
                      </a:r>
                    </a:p>
                  </a:txBody>
                  <a:tcPr anchor="ctr"/>
                </a:tc>
                <a:tc>
                  <a:txBody>
                    <a:bodyPr/>
                    <a:lstStyle/>
                    <a:p>
                      <a:pPr marL="0" lvl="0" indent="0" algn="l">
                        <a:buNone/>
                      </a:pPr>
                      <a:r>
                        <a:rPr lang="en-US" b="1" dirty="0">
                          <a:latin typeface="Times New Roman" panose="02020603050405020304" pitchFamily="18" charset="0"/>
                          <a:cs typeface="Times New Roman" panose="02020603050405020304" pitchFamily="18" charset="0"/>
                        </a:rPr>
                        <a:t>Cao</a:t>
                      </a:r>
                    </a:p>
                    <a:p>
                      <a:pPr marL="0" lvl="0" indent="0" algn="l">
                        <a:buNone/>
                      </a:pPr>
                      <a:r>
                        <a:rPr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tỷ</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lệ</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khả</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năng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bị</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tấn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công</a:t>
                      </a:r>
                      <a:r>
                        <a:rPr lang="en-US" b="1" dirty="0">
                          <a:latin typeface="Times New Roman" panose="02020603050405020304" pitchFamily="18" charset="0"/>
                          <a:cs typeface="Times New Roman" panose="02020603050405020304" pitchFamily="18" charset="0"/>
                        </a:rPr>
                        <a:t> ở </a:t>
                      </a:r>
                      <a:r>
                        <a:rPr lang="en-US" b="1" dirty="0" err="1">
                          <a:latin typeface="Times New Roman" panose="02020603050405020304" pitchFamily="18" charset="0"/>
                          <a:cs typeface="Times New Roman" panose="02020603050405020304" pitchFamily="18" charset="0"/>
                        </a:rPr>
                        <a:t>mức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thấp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nhất</a:t>
                      </a:r>
                      <a:r>
                        <a:rPr b="1" dirty="0">
                          <a:latin typeface="Times New Roman" panose="02020603050405020304" pitchFamily="18" charset="0"/>
                          <a:cs typeface="Times New Roman" panose="02020603050405020304" pitchFamily="18" charset="0"/>
                        </a:rPr>
                        <a:t>)</a:t>
                      </a:r>
                    </a:p>
                  </a:txBody>
                  <a:tcPr anchor="ctr"/>
                </a:tc>
                <a:tc>
                  <a:txBody>
                    <a:bodyPr/>
                    <a:lstStyle/>
                    <a:p>
                      <a:pPr marL="0" lvl="0" indent="0" algn="l">
                        <a:buNone/>
                      </a:pPr>
                      <a:r>
                        <a:rPr lang="vi-VN" dirty="0">
                          <a:latin typeface="Times New Roman" panose="02020603050405020304" pitchFamily="18" charset="0"/>
                          <a:cs typeface="Times New Roman" panose="02020603050405020304" pitchFamily="18" charset="0"/>
                        </a:rPr>
                        <a:t>Chỉ cấp quyền truy cập cho ứng dụng được ủy quyền, loại bỏ hoàn toàn rủi ro di chuyển ngang trong hệ thống.</a:t>
                      </a:r>
                      <a:endParaRP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432690">
                <a:tc>
                  <a:txBody>
                    <a:bodyPr/>
                    <a:lstStyle/>
                    <a:p>
                      <a:pPr marL="0" lvl="0" indent="0" algn="l">
                        <a:buNone/>
                      </a:pPr>
                      <a:r>
                        <a:rPr lang="en-US" b="1" dirty="0" err="1">
                          <a:latin typeface="Times New Roman" panose="02020603050405020304" pitchFamily="18" charset="0"/>
                          <a:cs typeface="Times New Roman" panose="02020603050405020304" pitchFamily="18" charset="0"/>
                        </a:rPr>
                        <a:t>Hiệu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quả</a:t>
                      </a:r>
                      <a:r>
                        <a:rPr lang="en-US" b="1" dirty="0">
                          <a:latin typeface="Times New Roman" panose="02020603050405020304" pitchFamily="18" charset="0"/>
                          <a:cs typeface="Times New Roman" panose="02020603050405020304" pitchFamily="18" charset="0"/>
                        </a:rPr>
                        <a:t> chi </a:t>
                      </a:r>
                      <a:r>
                        <a:rPr lang="en-US" b="1" dirty="0" err="1">
                          <a:latin typeface="Times New Roman" panose="02020603050405020304" pitchFamily="18" charset="0"/>
                          <a:cs typeface="Times New Roman" panose="02020603050405020304" pitchFamily="18" charset="0"/>
                        </a:rPr>
                        <a:t>phí</a:t>
                      </a:r>
                      <a:endParaRPr b="1" dirty="0">
                        <a:latin typeface="Times New Roman" panose="02020603050405020304" pitchFamily="18" charset="0"/>
                        <a:cs typeface="Times New Roman" panose="02020603050405020304" pitchFamily="18" charset="0"/>
                      </a:endParaRPr>
                    </a:p>
                  </a:txBody>
                  <a:tcPr anchor="ctr"/>
                </a:tc>
                <a:tc>
                  <a:txBody>
                    <a:bodyPr/>
                    <a:lstStyle/>
                    <a:p>
                      <a:pPr marL="0" lvl="0" indent="0" algn="l">
                        <a:buNone/>
                      </a:pPr>
                      <a:r>
                        <a:rPr lang="en-US" dirty="0" err="1">
                          <a:latin typeface="Times New Roman" panose="02020603050405020304" pitchFamily="18" charset="0"/>
                          <a:cs typeface="Times New Roman" panose="02020603050405020304" pitchFamily="18" charset="0"/>
                        </a:rPr>
                        <a:t>Cần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quyền</a:t>
                      </a:r>
                      <a:r>
                        <a:rPr lang="en-US" dirty="0">
                          <a:latin typeface="Times New Roman" panose="02020603050405020304" pitchFamily="18" charset="0"/>
                          <a:cs typeface="Times New Roman" panose="02020603050405020304" pitchFamily="18" charset="0"/>
                        </a:rPr>
                        <a:t> VPN</a:t>
                      </a:r>
                      <a:endParaRPr dirty="0">
                        <a:latin typeface="Times New Roman" panose="02020603050405020304" pitchFamily="18" charset="0"/>
                        <a:cs typeface="Times New Roman" panose="02020603050405020304" pitchFamily="18" charset="0"/>
                      </a:endParaRPr>
                    </a:p>
                  </a:txBody>
                  <a:tcPr anchor="ctr"/>
                </a:tc>
                <a:tc>
                  <a:txBody>
                    <a:bodyPr/>
                    <a:lstStyle/>
                    <a:p>
                      <a:pPr marL="0" lvl="0" indent="0" algn="l">
                        <a:buNone/>
                      </a:pPr>
                      <a:r>
                        <a:rPr b="1" dirty="0">
                          <a:latin typeface="Times New Roman" panose="02020603050405020304" pitchFamily="18" charset="0"/>
                          <a:cs typeface="Times New Roman" panose="02020603050405020304" pitchFamily="18" charset="0"/>
                        </a:rPr>
                        <a:t>$0 USD (PoC)</a:t>
                      </a:r>
                    </a:p>
                  </a:txBody>
                  <a:tcPr anchor="ctr"/>
                </a:tc>
                <a:tc>
                  <a:txBody>
                    <a:bodyPr/>
                    <a:lstStyle/>
                    <a:p>
                      <a:pPr marL="0" lvl="0" indent="0" algn="l">
                        <a:buNone/>
                      </a:pP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thêm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mềm</a:t>
                      </a:r>
                      <a:endParaRP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732244">
                <a:tc>
                  <a:txBody>
                    <a:bodyPr/>
                    <a:lstStyle/>
                    <a:p>
                      <a:pPr marL="0" lvl="0" indent="0" algn="l">
                        <a:buNone/>
                      </a:pPr>
                      <a:r>
                        <a:rPr lang="en-US" b="1" dirty="0" err="1">
                          <a:latin typeface="Times New Roman" panose="02020603050405020304" pitchFamily="18" charset="0"/>
                          <a:cs typeface="Times New Roman" panose="02020603050405020304" pitchFamily="18" charset="0"/>
                        </a:rPr>
                        <a:t>Trải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nghiệm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người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dùng</a:t>
                      </a:r>
                      <a:endParaRPr b="1" dirty="0">
                        <a:latin typeface="Times New Roman" panose="02020603050405020304" pitchFamily="18" charset="0"/>
                        <a:cs typeface="Times New Roman" panose="02020603050405020304" pitchFamily="18" charset="0"/>
                      </a:endParaRPr>
                    </a:p>
                  </a:txBody>
                  <a:tcPr anchor="ctr"/>
                </a:tc>
                <a:tc>
                  <a:txBody>
                    <a:bodyPr/>
                    <a:lstStyle/>
                    <a:p>
                      <a:pPr marL="0" lvl="0" indent="0" algn="l">
                        <a:buNone/>
                      </a:pPr>
                      <a:r>
                        <a:rPr lang="en-US" dirty="0" err="1">
                          <a:latin typeface="Times New Roman" panose="02020603050405020304" pitchFamily="18" charset="0"/>
                          <a:cs typeface="Times New Roman" panose="02020603050405020304" pitchFamily="18" charset="0"/>
                        </a:rPr>
                        <a:t>Cần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endParaRPr dirty="0">
                        <a:latin typeface="Times New Roman" panose="02020603050405020304" pitchFamily="18" charset="0"/>
                        <a:cs typeface="Times New Roman" panose="02020603050405020304" pitchFamily="18" charset="0"/>
                      </a:endParaRPr>
                    </a:p>
                  </a:txBody>
                  <a:tcPr anchor="ctr"/>
                </a:tc>
                <a:tc>
                  <a:txBody>
                    <a:bodyPr/>
                    <a:lstStyle/>
                    <a:p>
                      <a:pPr marL="0" lvl="0" indent="0" algn="l">
                        <a:buNone/>
                      </a:pPr>
                      <a:r>
                        <a:rPr lang="en-US" b="1" dirty="0" err="1">
                          <a:latin typeface="Times New Roman" panose="02020603050405020304" pitchFamily="18" charset="0"/>
                          <a:cs typeface="Times New Roman" panose="02020603050405020304" pitchFamily="18" charset="0"/>
                        </a:rPr>
                        <a:t>Tự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động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kết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nối</a:t>
                      </a:r>
                      <a:endParaRPr b="1" dirty="0">
                        <a:latin typeface="Times New Roman" panose="02020603050405020304" pitchFamily="18" charset="0"/>
                        <a:cs typeface="Times New Roman" panose="02020603050405020304" pitchFamily="18" charset="0"/>
                      </a:endParaRPr>
                    </a:p>
                  </a:txBody>
                  <a:tcPr anchor="ctr"/>
                </a:tc>
                <a:tc>
                  <a:txBody>
                    <a:bodyPr/>
                    <a:lstStyle/>
                    <a:p>
                      <a:pPr marL="0" lvl="0" indent="0" algn="l">
                        <a:buNone/>
                      </a:pPr>
                      <a:r>
                        <a:rPr lang="vi-VN" b="0" dirty="0">
                          <a:latin typeface="Times New Roman" panose="02020603050405020304" pitchFamily="18" charset="0"/>
                          <a:cs typeface="Times New Roman" panose="02020603050405020304" pitchFamily="18" charset="0"/>
                        </a:rPr>
                        <a:t>Nhân viên chỉ cần mở WARP là có thể sử dụng tất cả các hệ thống như đang làm việc tại văn phòng.</a:t>
                      </a:r>
                      <a:endParaRPr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3200" b="1" dirty="0">
                <a:latin typeface="Times New Roman" panose="02020603050405020304" pitchFamily="18" charset="0"/>
                <a:cs typeface="Times New Roman" panose="02020603050405020304" pitchFamily="18" charset="0"/>
              </a:rPr>
              <a:t>10</a:t>
            </a:r>
            <a:r>
              <a:rPr lang="en-US" sz="3200" b="1" dirty="0">
                <a:latin typeface="Times New Roman" panose="02020603050405020304" pitchFamily="18" charset="0"/>
                <a:cs typeface="Times New Roman" panose="02020603050405020304" pitchFamily="18" charset="0"/>
              </a:rPr>
              <a:t>.</a:t>
            </a:r>
            <a:r>
              <a:rPr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Kết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luận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và</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kêu</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gọi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hành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động</a:t>
            </a:r>
            <a:br>
              <a:rPr lang="en-US" sz="3200" b="1" dirty="0">
                <a:latin typeface="Times New Roman" panose="02020603050405020304" pitchFamily="18" charset="0"/>
                <a:cs typeface="Times New Roman" panose="02020603050405020304" pitchFamily="18" charset="0"/>
              </a:rPr>
            </a:br>
            <a:r>
              <a:rPr sz="2400" b="1" dirty="0">
                <a:latin typeface="Times New Roman" panose="02020603050405020304" pitchFamily="18" charset="0"/>
                <a:cs typeface="Times New Roman" panose="02020603050405020304" pitchFamily="18" charset="0"/>
              </a:rPr>
              <a:t>(Conclusion &amp; Call to Action)</a:t>
            </a:r>
            <a:endParaRPr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005032"/>
            <a:ext cx="8229600" cy="4138467"/>
          </a:xfrm>
        </p:spPr>
        <p:txBody>
          <a:bodyPr>
            <a:noAutofit/>
          </a:bodyPr>
          <a:lstStyle/>
          <a:p>
            <a:pPr marL="0" lvl="0" indent="0">
              <a:buNone/>
            </a:pPr>
            <a:r>
              <a:rPr lang="en-US" sz="2000" b="1" dirty="0" err="1">
                <a:latin typeface="Times New Roman" panose="02020603050405020304" pitchFamily="18" charset="0"/>
                <a:ea typeface="Microsoft JhengHei Light" panose="020B0304030504040204" pitchFamily="34" charset="-120"/>
                <a:cs typeface="Times New Roman" panose="02020603050405020304" pitchFamily="18" charset="0"/>
              </a:rPr>
              <a:t>Kết</a:t>
            </a:r>
            <a:r>
              <a:rPr lang="en-US" sz="20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2000" b="1" dirty="0" err="1">
                <a:latin typeface="Times New Roman" panose="02020603050405020304" pitchFamily="18" charset="0"/>
                <a:ea typeface="Microsoft JhengHei Light" panose="020B0304030504040204" pitchFamily="34" charset="-120"/>
                <a:cs typeface="Times New Roman" panose="02020603050405020304" pitchFamily="18" charset="0"/>
              </a:rPr>
              <a:t>luận</a:t>
            </a:r>
            <a:r>
              <a:rPr sz="2000" b="1" dirty="0">
                <a:latin typeface="Times New Roman" panose="02020603050405020304" pitchFamily="18" charset="0"/>
                <a:ea typeface="Microsoft JhengHei Light" panose="020B0304030504040204" pitchFamily="34" charset="-120"/>
                <a:cs typeface="Times New Roman" panose="02020603050405020304" pitchFamily="18" charset="0"/>
              </a:rPr>
              <a:t>：</a:t>
            </a:r>
            <a:r>
              <a:rPr sz="2000" dirty="0">
                <a:latin typeface="Times New Roman" panose="02020603050405020304" pitchFamily="18" charset="0"/>
                <a:ea typeface="Microsoft JhengHei Light" panose="020B0304030504040204" pitchFamily="34" charset="-120"/>
                <a:cs typeface="Times New Roman" panose="02020603050405020304" pitchFamily="18" charset="0"/>
              </a:rPr>
              <a:t> </a:t>
            </a:r>
            <a:endParaRPr lang="en-US" sz="2000" dirty="0">
              <a:latin typeface="Times New Roman" panose="02020603050405020304" pitchFamily="18" charset="0"/>
              <a:ea typeface="Microsoft JhengHei Light" panose="020B0304030504040204" pitchFamily="34" charset="-120"/>
              <a:cs typeface="Times New Roman" panose="02020603050405020304" pitchFamily="18" charset="0"/>
            </a:endParaRPr>
          </a:p>
          <a:p>
            <a:pPr marL="0" lvl="0" indent="0">
              <a:buNone/>
            </a:pPr>
            <a:endParaRPr lang="en-US" sz="1400" dirty="0">
              <a:latin typeface="Times New Roman" panose="02020603050405020304" pitchFamily="18" charset="0"/>
              <a:ea typeface="Microsoft JhengHei Light" panose="020B0304030504040204" pitchFamily="34" charset="-120"/>
              <a:cs typeface="Times New Roman" panose="02020603050405020304" pitchFamily="18" charset="0"/>
            </a:endParaRPr>
          </a:p>
          <a:p>
            <a:pPr marL="0" lvl="0" indent="0">
              <a:buNone/>
            </a:pPr>
            <a:r>
              <a:rPr lang="vi-VN" sz="1800" dirty="0">
                <a:latin typeface="Times New Roman" panose="02020603050405020304" pitchFamily="18" charset="0"/>
                <a:ea typeface="Microsoft JhengHei Light" panose="020B0304030504040204" pitchFamily="34" charset="-120"/>
                <a:cs typeface="Times New Roman" panose="02020603050405020304" pitchFamily="18" charset="0"/>
              </a:rPr>
              <a:t>Giải pháp Cloudflare Zero Trust là con đường </a:t>
            </a:r>
            <a:r>
              <a:rPr lang="vi-VN" sz="1800" b="1" dirty="0">
                <a:latin typeface="Times New Roman" panose="02020603050405020304" pitchFamily="18" charset="0"/>
                <a:ea typeface="Microsoft JhengHei Light" panose="020B0304030504040204" pitchFamily="34" charset="-120"/>
                <a:cs typeface="Times New Roman" panose="02020603050405020304" pitchFamily="18" charset="0"/>
              </a:rPr>
              <a:t>nâng cấp </a:t>
            </a:r>
            <a:r>
              <a:rPr lang="en-US" sz="1800" b="1" dirty="0" err="1">
                <a:latin typeface="Times New Roman" panose="02020603050405020304" pitchFamily="18" charset="0"/>
                <a:ea typeface="Microsoft JhengHei Light" panose="020B0304030504040204" pitchFamily="34" charset="-120"/>
                <a:cs typeface="Times New Roman" panose="02020603050405020304" pitchFamily="18" charset="0"/>
              </a:rPr>
              <a:t>cấu</a:t>
            </a:r>
            <a:r>
              <a:rPr lang="en-US" sz="18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vi-VN" sz="1800" b="1" dirty="0">
                <a:latin typeface="Times New Roman" panose="02020603050405020304" pitchFamily="18" charset="0"/>
                <a:ea typeface="Microsoft JhengHei Light" panose="020B0304030504040204" pitchFamily="34" charset="-120"/>
                <a:cs typeface="Times New Roman" panose="02020603050405020304" pitchFamily="18" charset="0"/>
              </a:rPr>
              <a:t>trúc truy cập từ xa cho tổ chức với rủi ro bằng không và hiệu quả cao. </a:t>
            </a:r>
            <a:r>
              <a:rPr lang="vi-VN" sz="1800" dirty="0">
                <a:latin typeface="Times New Roman" panose="02020603050405020304" pitchFamily="18" charset="0"/>
                <a:ea typeface="Microsoft JhengHei Light" panose="020B0304030504040204" pitchFamily="34" charset="-120"/>
                <a:cs typeface="Times New Roman" panose="02020603050405020304" pitchFamily="18" charset="0"/>
              </a:rPr>
              <a:t>Giải pháp này có thể ngay lập tức giải quyết các điểm nghẽn trong kết nối xuyên quốc gia, đồng thời đặt nền tảng cho việc triển khai SSO và kiểm tra an toàn thiết bị trong tương lai.</a:t>
            </a:r>
            <a:br>
              <a:rPr sz="2000" dirty="0">
                <a:latin typeface="Times New Roman" panose="02020603050405020304" pitchFamily="18" charset="0"/>
                <a:ea typeface="Microsoft JhengHei Light" panose="020B0304030504040204" pitchFamily="34" charset="-120"/>
                <a:cs typeface="Times New Roman" panose="02020603050405020304" pitchFamily="18" charset="0"/>
              </a:rPr>
            </a:br>
            <a:endParaRPr lang="en-US" sz="2000" dirty="0">
              <a:latin typeface="Times New Roman" panose="02020603050405020304" pitchFamily="18" charset="0"/>
              <a:ea typeface="Microsoft JhengHei Light" panose="020B0304030504040204" pitchFamily="34" charset="-120"/>
              <a:cs typeface="Times New Roman" panose="02020603050405020304" pitchFamily="18" charset="0"/>
            </a:endParaRPr>
          </a:p>
          <a:p>
            <a:pPr marL="0" lvl="0" indent="0">
              <a:buNone/>
            </a:pPr>
            <a:r>
              <a:rPr lang="en-US" sz="2000" b="1" dirty="0" err="1">
                <a:latin typeface="Times New Roman" panose="02020603050405020304" pitchFamily="18" charset="0"/>
                <a:ea typeface="Microsoft JhengHei Light" panose="020B0304030504040204" pitchFamily="34" charset="-120"/>
                <a:cs typeface="Times New Roman" panose="02020603050405020304" pitchFamily="18" charset="0"/>
              </a:rPr>
              <a:t>Đề</a:t>
            </a:r>
            <a:r>
              <a:rPr lang="en-US" sz="20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2000" b="1" dirty="0" err="1">
                <a:latin typeface="Times New Roman" panose="02020603050405020304" pitchFamily="18" charset="0"/>
                <a:ea typeface="Microsoft JhengHei Light" panose="020B0304030504040204" pitchFamily="34" charset="-120"/>
                <a:cs typeface="Times New Roman" panose="02020603050405020304" pitchFamily="18" charset="0"/>
              </a:rPr>
              <a:t>xuất</a:t>
            </a:r>
            <a:r>
              <a:rPr lang="en-US" sz="20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2000" b="1" dirty="0" err="1">
                <a:latin typeface="Times New Roman" panose="02020603050405020304" pitchFamily="18" charset="0"/>
                <a:ea typeface="Microsoft JhengHei Light" panose="020B0304030504040204" pitchFamily="34" charset="-120"/>
                <a:cs typeface="Times New Roman" panose="02020603050405020304" pitchFamily="18" charset="0"/>
              </a:rPr>
              <a:t>hành</a:t>
            </a:r>
            <a:r>
              <a:rPr lang="en-US" sz="2000" b="1"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2000" b="1" dirty="0" err="1">
                <a:latin typeface="Times New Roman" panose="02020603050405020304" pitchFamily="18" charset="0"/>
                <a:ea typeface="Microsoft JhengHei Light" panose="020B0304030504040204" pitchFamily="34" charset="-120"/>
                <a:cs typeface="Times New Roman" panose="02020603050405020304" pitchFamily="18" charset="0"/>
              </a:rPr>
              <a:t>động</a:t>
            </a:r>
            <a:r>
              <a:rPr lang="en-US" sz="2000" b="1" dirty="0">
                <a:latin typeface="Times New Roman" panose="02020603050405020304" pitchFamily="18" charset="0"/>
                <a:ea typeface="Microsoft JhengHei Light" panose="020B0304030504040204" pitchFamily="34" charset="-120"/>
                <a:cs typeface="Times New Roman" panose="02020603050405020304" pitchFamily="18" charset="0"/>
              </a:rPr>
              <a:t>：</a:t>
            </a:r>
          </a:p>
          <a:p>
            <a:pPr marL="0" lvl="0" indent="0">
              <a:buNone/>
            </a:pPr>
            <a:endParaRPr sz="1400" b="1" dirty="0">
              <a:latin typeface="Times New Roman" panose="02020603050405020304" pitchFamily="18" charset="0"/>
              <a:ea typeface="Microsoft JhengHei Light" panose="020B0304030504040204" pitchFamily="34" charset="-120"/>
              <a:cs typeface="Times New Roman" panose="02020603050405020304" pitchFamily="18" charset="0"/>
            </a:endParaRPr>
          </a:p>
          <a:p>
            <a:pPr lvl="1">
              <a:buFont typeface="+mj-lt"/>
              <a:buAutoNum type="arabicPeriod"/>
            </a:pPr>
            <a:r>
              <a:rPr lang="en-US" sz="1800" dirty="0" err="1">
                <a:latin typeface="Times New Roman" panose="02020603050405020304" pitchFamily="18" charset="0"/>
                <a:ea typeface="Microsoft JhengHei Light" panose="020B0304030504040204" pitchFamily="34" charset="-120"/>
                <a:cs typeface="Times New Roman" panose="02020603050405020304" pitchFamily="18" charset="0"/>
              </a:rPr>
              <a:t>Phê</a:t>
            </a:r>
            <a:r>
              <a:rPr lang="en-US" sz="18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800" dirty="0" err="1">
                <a:latin typeface="Times New Roman" panose="02020603050405020304" pitchFamily="18" charset="0"/>
                <a:ea typeface="Microsoft JhengHei Light" panose="020B0304030504040204" pitchFamily="34" charset="-120"/>
                <a:cs typeface="Times New Roman" panose="02020603050405020304" pitchFamily="18" charset="0"/>
              </a:rPr>
              <a:t>duyệt</a:t>
            </a:r>
            <a:r>
              <a:rPr lang="en-US" sz="18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800" dirty="0" err="1">
                <a:latin typeface="Times New Roman" panose="02020603050405020304" pitchFamily="18" charset="0"/>
                <a:ea typeface="Microsoft JhengHei Light" panose="020B0304030504040204" pitchFamily="34" charset="-120"/>
                <a:cs typeface="Times New Roman" panose="02020603050405020304" pitchFamily="18" charset="0"/>
              </a:rPr>
              <a:t>cho</a:t>
            </a:r>
            <a:r>
              <a:rPr lang="en-US" sz="18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800" dirty="0" err="1">
                <a:latin typeface="Times New Roman" panose="02020603050405020304" pitchFamily="18" charset="0"/>
                <a:ea typeface="Microsoft JhengHei Light" panose="020B0304030504040204" pitchFamily="34" charset="-120"/>
                <a:cs typeface="Times New Roman" panose="02020603050405020304" pitchFamily="18" charset="0"/>
              </a:rPr>
              <a:t>bộ</a:t>
            </a:r>
            <a:r>
              <a:rPr lang="en-US" sz="18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800" dirty="0" err="1">
                <a:latin typeface="Times New Roman" panose="02020603050405020304" pitchFamily="18" charset="0"/>
                <a:ea typeface="Microsoft JhengHei Light" panose="020B0304030504040204" pitchFamily="34" charset="-120"/>
                <a:cs typeface="Times New Roman" panose="02020603050405020304" pitchFamily="18" charset="0"/>
              </a:rPr>
              <a:t>phận</a:t>
            </a:r>
            <a:r>
              <a:rPr lang="en-US" sz="1800" dirty="0">
                <a:latin typeface="Times New Roman" panose="02020603050405020304" pitchFamily="18" charset="0"/>
                <a:ea typeface="Microsoft JhengHei Light" panose="020B0304030504040204" pitchFamily="34" charset="-120"/>
                <a:cs typeface="Times New Roman" panose="02020603050405020304" pitchFamily="18" charset="0"/>
              </a:rPr>
              <a:t> IT </a:t>
            </a:r>
            <a:r>
              <a:rPr lang="en-US" sz="1800" dirty="0" err="1">
                <a:latin typeface="Times New Roman" panose="02020603050405020304" pitchFamily="18" charset="0"/>
                <a:ea typeface="Microsoft JhengHei Light" panose="020B0304030504040204" pitchFamily="34" charset="-120"/>
                <a:cs typeface="Times New Roman" panose="02020603050405020304" pitchFamily="18" charset="0"/>
              </a:rPr>
              <a:t>khởi</a:t>
            </a:r>
            <a:r>
              <a:rPr lang="en-US" sz="18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800" dirty="0" err="1">
                <a:latin typeface="Times New Roman" panose="02020603050405020304" pitchFamily="18" charset="0"/>
                <a:ea typeface="Microsoft JhengHei Light" panose="020B0304030504040204" pitchFamily="34" charset="-120"/>
                <a:cs typeface="Times New Roman" panose="02020603050405020304" pitchFamily="18" charset="0"/>
              </a:rPr>
              <a:t>động</a:t>
            </a:r>
            <a:r>
              <a:rPr lang="en-US" sz="18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800" dirty="0" err="1">
                <a:latin typeface="Times New Roman" panose="02020603050405020304" pitchFamily="18" charset="0"/>
                <a:ea typeface="Microsoft JhengHei Light" panose="020B0304030504040204" pitchFamily="34" charset="-120"/>
                <a:cs typeface="Times New Roman" panose="02020603050405020304" pitchFamily="18" charset="0"/>
              </a:rPr>
              <a:t>dự</a:t>
            </a:r>
            <a:r>
              <a:rPr lang="en-US" sz="18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800" dirty="0" err="1">
                <a:latin typeface="Times New Roman" panose="02020603050405020304" pitchFamily="18" charset="0"/>
                <a:ea typeface="Microsoft JhengHei Light" panose="020B0304030504040204" pitchFamily="34" charset="-120"/>
                <a:cs typeface="Times New Roman" panose="02020603050405020304" pitchFamily="18" charset="0"/>
              </a:rPr>
              <a:t>án</a:t>
            </a:r>
            <a:r>
              <a:rPr lang="en-US" sz="1800" dirty="0">
                <a:latin typeface="Times New Roman" panose="02020603050405020304" pitchFamily="18" charset="0"/>
                <a:ea typeface="Microsoft JhengHei Light" panose="020B0304030504040204" pitchFamily="34" charset="-120"/>
                <a:cs typeface="Times New Roman" panose="02020603050405020304" pitchFamily="18" charset="0"/>
              </a:rPr>
              <a:t> PoC (</a:t>
            </a:r>
            <a:r>
              <a:rPr lang="en-US" sz="1800" dirty="0" err="1">
                <a:latin typeface="Times New Roman" panose="02020603050405020304" pitchFamily="18" charset="0"/>
                <a:ea typeface="Microsoft JhengHei Light" panose="020B0304030504040204" pitchFamily="34" charset="-120"/>
                <a:cs typeface="Times New Roman" panose="02020603050405020304" pitchFamily="18" charset="0"/>
              </a:rPr>
              <a:t>chứng</a:t>
            </a:r>
            <a:r>
              <a:rPr lang="en-US" sz="18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800" dirty="0" err="1">
                <a:latin typeface="Times New Roman" panose="02020603050405020304" pitchFamily="18" charset="0"/>
                <a:ea typeface="Microsoft JhengHei Light" panose="020B0304030504040204" pitchFamily="34" charset="-120"/>
                <a:cs typeface="Times New Roman" panose="02020603050405020304" pitchFamily="18" charset="0"/>
              </a:rPr>
              <a:t>minh</a:t>
            </a:r>
            <a:r>
              <a:rPr lang="en-US" sz="18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800" dirty="0" err="1">
                <a:latin typeface="Times New Roman" panose="02020603050405020304" pitchFamily="18" charset="0"/>
                <a:ea typeface="Microsoft JhengHei Light" panose="020B0304030504040204" pitchFamily="34" charset="-120"/>
                <a:cs typeface="Times New Roman" panose="02020603050405020304" pitchFamily="18" charset="0"/>
              </a:rPr>
              <a:t>khái</a:t>
            </a:r>
            <a:r>
              <a:rPr lang="en-US" sz="18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800" dirty="0" err="1">
                <a:latin typeface="Times New Roman" panose="02020603050405020304" pitchFamily="18" charset="0"/>
                <a:ea typeface="Microsoft JhengHei Light" panose="020B0304030504040204" pitchFamily="34" charset="-120"/>
                <a:cs typeface="Times New Roman" panose="02020603050405020304" pitchFamily="18" charset="0"/>
              </a:rPr>
              <a:t>niệm</a:t>
            </a:r>
            <a:r>
              <a:rPr lang="en-US" sz="18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800" dirty="0" err="1">
                <a:latin typeface="Times New Roman" panose="02020603050405020304" pitchFamily="18" charset="0"/>
                <a:ea typeface="Microsoft JhengHei Light" panose="020B0304030504040204" pitchFamily="34" charset="-120"/>
                <a:cs typeface="Times New Roman" panose="02020603050405020304" pitchFamily="18" charset="0"/>
              </a:rPr>
              <a:t>với</a:t>
            </a:r>
            <a:r>
              <a:rPr lang="en-US" sz="1800" dirty="0">
                <a:latin typeface="Times New Roman" panose="02020603050405020304" pitchFamily="18" charset="0"/>
                <a:ea typeface="Microsoft JhengHei Light" panose="020B0304030504040204" pitchFamily="34" charset="-120"/>
                <a:cs typeface="Times New Roman" panose="02020603050405020304" pitchFamily="18" charset="0"/>
              </a:rPr>
              <a:t> </a:t>
            </a:r>
            <a:r>
              <a:rPr lang="en-US" sz="1800" dirty="0" err="1">
                <a:latin typeface="Times New Roman" panose="02020603050405020304" pitchFamily="18" charset="0"/>
                <a:ea typeface="Microsoft JhengHei Light" panose="020B0304030504040204" pitchFamily="34" charset="-120"/>
                <a:cs typeface="Times New Roman" panose="02020603050405020304" pitchFamily="18" charset="0"/>
              </a:rPr>
              <a:t>gói</a:t>
            </a:r>
            <a:r>
              <a:rPr lang="en-US" sz="1800" dirty="0">
                <a:latin typeface="Times New Roman" panose="02020603050405020304" pitchFamily="18" charset="0"/>
                <a:ea typeface="Microsoft JhengHei Light" panose="020B0304030504040204" pitchFamily="34" charset="-120"/>
                <a:cs typeface="Times New Roman" panose="02020603050405020304" pitchFamily="18" charset="0"/>
              </a:rPr>
              <a:t> Cloudflare Zero Trust Free Plan.</a:t>
            </a:r>
          </a:p>
          <a:p>
            <a:pPr lvl="1">
              <a:buFont typeface="+mj-lt"/>
              <a:buAutoNum type="arabicPeriod"/>
            </a:pPr>
            <a:r>
              <a:rPr lang="vi-VN" sz="1800" dirty="0">
                <a:latin typeface="Times New Roman" panose="02020603050405020304" pitchFamily="18" charset="0"/>
                <a:ea typeface="Microsoft JhengHei Light" panose="020B0304030504040204" pitchFamily="34" charset="-120"/>
                <a:cs typeface="Times New Roman" panose="02020603050405020304" pitchFamily="18" charset="0"/>
              </a:rPr>
              <a:t>Xác định người phụ trách dự án và phân bổ nguồn lực, đảm bảo hoàn thành triển khai và nghiệm thu trong vòng 6 tuần.</a:t>
            </a:r>
            <a:endParaRPr sz="1800" dirty="0">
              <a:latin typeface="Times New Roman" panose="02020603050405020304" pitchFamily="18" charset="0"/>
              <a:ea typeface="Microsoft JhengHei Light" panose="020B0304030504040204" pitchFamily="34" charset="-12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文件" ma:contentTypeID="0x01010003BE9727992A24479AC7469DEEDEA94C" ma:contentTypeVersion="18" ma:contentTypeDescription="建立新的文件。" ma:contentTypeScope="" ma:versionID="90db8d08762d78833edc97641b324152">
  <xsd:schema xmlns:xsd="http://www.w3.org/2001/XMLSchema" xmlns:xs="http://www.w3.org/2001/XMLSchema" xmlns:p="http://schemas.microsoft.com/office/2006/metadata/properties" xmlns:ns2="9d157257-a3bf-4ff5-a465-4e2defe95989" xmlns:ns3="5fe9d9f8-cc4e-4bb2-9b11-9758b481ddc1" targetNamespace="http://schemas.microsoft.com/office/2006/metadata/properties" ma:root="true" ma:fieldsID="52fd5747fd407ad1840f6ddf6cb7ad06" ns2:_="" ns3:_="">
    <xsd:import namespace="9d157257-a3bf-4ff5-a465-4e2defe95989"/>
    <xsd:import namespace="5fe9d9f8-cc4e-4bb2-9b11-9758b481ddc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157257-a3bf-4ff5-a465-4e2defe95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影像標籤" ma:readOnly="false" ma:fieldId="{5cf76f15-5ced-4ddc-b409-7134ff3c332f}" ma:taxonomyMulti="true" ma:sspId="f4cab4e9-b41f-4aee-96b1-c1b3b1261b96"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fe9d9f8-cc4e-4bb2-9b11-9758b481ddc1" elementFormDefault="qualified">
    <xsd:import namespace="http://schemas.microsoft.com/office/2006/documentManagement/types"/>
    <xsd:import namespace="http://schemas.microsoft.com/office/infopath/2007/PartnerControls"/>
    <xsd:element name="SharedWithUsers" ma:index="18" nillable="true" ma:displayName="共用對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用詳細資料" ma:internalName="SharedWithDetails" ma:readOnly="true">
      <xsd:simpleType>
        <xsd:restriction base="dms:Note">
          <xsd:maxLength value="255"/>
        </xsd:restriction>
      </xsd:simpleType>
    </xsd:element>
    <xsd:element name="TaxCatchAll" ma:index="22" nillable="true" ma:displayName="Taxonomy Catch All Column" ma:hidden="true" ma:list="{64bd9be1-660a-4bc7-baff-f2d1738c4dfe}" ma:internalName="TaxCatchAll" ma:showField="CatchAllData" ma:web="5fe9d9f8-cc4e-4bb2-9b11-9758b481ddc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d157257-a3bf-4ff5-a465-4e2defe95989">
      <Terms xmlns="http://schemas.microsoft.com/office/infopath/2007/PartnerControls"/>
    </lcf76f155ced4ddcb4097134ff3c332f>
    <TaxCatchAll xmlns="5fe9d9f8-cc4e-4bb2-9b11-9758b481ddc1" xsi:nil="true"/>
  </documentManagement>
</p:properties>
</file>

<file path=customXml/itemProps1.xml><?xml version="1.0" encoding="utf-8"?>
<ds:datastoreItem xmlns:ds="http://schemas.openxmlformats.org/officeDocument/2006/customXml" ds:itemID="{A78C30A1-F64C-4BD4-A522-C00BC78F755C}">
  <ds:schemaRefs>
    <ds:schemaRef ds:uri="http://schemas.microsoft.com/sharepoint/v3/contenttype/forms"/>
  </ds:schemaRefs>
</ds:datastoreItem>
</file>

<file path=customXml/itemProps2.xml><?xml version="1.0" encoding="utf-8"?>
<ds:datastoreItem xmlns:ds="http://schemas.openxmlformats.org/officeDocument/2006/customXml" ds:itemID="{375973E5-33E6-4621-A93B-DF71CB4DEA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157257-a3bf-4ff5-a465-4e2defe95989"/>
    <ds:schemaRef ds:uri="5fe9d9f8-cc4e-4bb2-9b11-9758b481dd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69BB57C-10A4-4B7F-B9CC-702428E318E7}">
  <ds:schemaRefs>
    <ds:schemaRef ds:uri="http://schemas.microsoft.com/office/2006/metadata/properties"/>
    <ds:schemaRef ds:uri="http://schemas.microsoft.com/office/infopath/2007/PartnerControls"/>
    <ds:schemaRef ds:uri="9d157257-a3bf-4ff5-a465-4e2defe95989"/>
    <ds:schemaRef ds:uri="5fe9d9f8-cc4e-4bb2-9b11-9758b481ddc1"/>
  </ds:schemaRefs>
</ds:datastoreItem>
</file>

<file path=docProps/app.xml><?xml version="1.0" encoding="utf-8"?>
<Properties xmlns="http://schemas.openxmlformats.org/officeDocument/2006/extended-properties" xmlns:vt="http://schemas.openxmlformats.org/officeDocument/2006/docPropsVTypes">
  <TotalTime>97</TotalTime>
  <Words>1601</Words>
  <Application>Microsoft Office PowerPoint</Application>
  <PresentationFormat>On-screen Show (16:9)</PresentationFormat>
  <Paragraphs>122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💻giải pháp truy cập từ xa Zero Trust</vt:lpstr>
      <vt:lpstr>2. Tổng quan thực hiện (Executive Summary)</vt:lpstr>
      <vt:lpstr>3.Phân tích hiện trạng và những điểm khó khăn (Problem Statement &amp; Pain Points)</vt:lpstr>
      <vt:lpstr>4. Giới thiệu cấu trúc Zero Trust</vt:lpstr>
      <vt:lpstr>5. Phương án đề xuất：các thành phần cốt lõi của Cloudflare ZTNA</vt:lpstr>
      <vt:lpstr>6. Triển khai chi tiết các ứng dụng quan trọng (How It Works)</vt:lpstr>
      <vt:lpstr>7. Phân tích ngân sách và chi phí (Budget &amp; Cost)</vt:lpstr>
      <vt:lpstr>8. Lịch trình và kế hoạch triển khai  (Timeline &amp; Next Steps)</vt:lpstr>
      <vt:lpstr>9. Đánh giá hiệu quả và giá trị đạt được  (Value Proposition)</vt:lpstr>
      <vt:lpstr>10. Kết luận và kêu gọi hành động (Conclusion &amp; Call to Action)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💻giải pháp truy cập từ xa Zero Trust</dc:title>
  <dc:creator/>
  <cp:keywords/>
  <cp:lastModifiedBy>Hue Dang</cp:lastModifiedBy>
  <cp:revision>11</cp:revision>
  <dcterms:created xsi:type="dcterms:W3CDTF">2025-11-03T03:57:05Z</dcterms:created>
  <dcterms:modified xsi:type="dcterms:W3CDTF">2025-11-04T03:11:17Z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arp">
    <vt:lpwstr>True</vt:lpwstr>
  </property>
  <property fmtid="{D5CDD505-2E9C-101B-9397-08002B2CF9AE}" pid="3" name="ContentTypeId">
    <vt:lpwstr>0x01010003BE9727992A24479AC7469DEEDEA94C</vt:lpwstr>
  </property>
</Properties>
</file>